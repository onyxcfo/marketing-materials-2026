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7" r:id="rId4"/>
    <p:sldId id="260" r:id="rId5"/>
    <p:sldId id="266" r:id="rId6"/>
    <p:sldId id="267" r:id="rId7"/>
    <p:sldId id="269" r:id="rId8"/>
    <p:sldId id="268"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8939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10-15 minutes total including Q&amp;A. Keep energy up, stories over specs. Open with the Scottsdale connection: Lauren and the TrustBank team are neighbors, just up Scottsdale Road. Her email set the agenda: how we support privately held businesses, who is a best-fit client and how the process works, and where TrustBank and Onyx complement each other. One sentence on Onyx: we keep your borrowers lendable and your portfolio clean.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and human, 30 seconds each. The point: this is a professional accounting firm, not a bookkeeping shop. Confirm Josephine’s exact title before presenting. Lead with the neighborhood: boutique firm across the street from their Scottsdale office, built on Top 10 firm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piece: most clients already have the partners. What they lack is the quarterback connecting them. TrustBank sits first among the partners. Do not oversell: Onyx coordinates, the partners lead their lanes.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staircase is the differentiator: bookkeepers stop at step one. Onyx runs transactional, month-end, and strategic, through M&amp;A, succession planning, and system selection. Bankers should hear: whatever level the client needs, one firm covers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Lauren asked who fits best: owner-led small and mid-size businesses. Three doors in: the books need handling, the reporting has been outgrown, or the owner wants a partner. Land the last line: nobody should have to negotiate their business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ask from Lauren’s email: how the process works. Free consultation, document the needs, custom engagement, cleanup usually weeks to a few months, then the monthly rhythm, and from there strategy and growth. Reassure: we do the heavy lifting, the client keeps running the business.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services slide. Three layers: cleanup gets them bankable, the monthly rhythm keeps them bankable, strategy grows them. Then the differentiator: we communicate, to the bank, and to the client’s partners, usually the CPA firm for reporting. One liaison, both directions.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collaborative-support slide. Their triggers: messy books plus a loan request, reporting issues at renewal, growth that needs more funding. Ours back: banking, treasury, and wealth management on liquidity events. Make it concrete with one shared-client scenario, then ask for one or two names.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standing offer: free consultation for anything they refer, quarterly reviews as the ongoing rhythm. Make the ask concrete: one or two names, one intro call. Leave the handout behind. For TrustBank: referrals flow both ways. Wealth management, retirement planning, and liquidity event planning are where our work hands clients to their team, and clean books are where their referrals land with 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3" name="Text 0"/>
          <p:cNvSpPr/>
          <p:nvPr/>
        </p:nvSpPr>
        <p:spPr>
          <a:xfrm>
            <a:off x="0" y="548640"/>
            <a:ext cx="12191695" cy="1234440"/>
          </a:xfrm>
          <a:prstGeom prst="rect">
            <a:avLst/>
          </a:prstGeom>
          <a:noFill/>
          <a:ln/>
        </p:spPr>
        <p:txBody>
          <a:bodyPr wrap="square" lIns="0" tIns="0" rIns="0" bIns="0" rtlCol="0" anchor="ctr"/>
          <a:lstStyle/>
          <a:p>
            <a:pPr marL="0" indent="0" algn="ctr">
              <a:buNone/>
            </a:pPr>
            <a:r>
              <a:rPr lang="en-US" sz="7600" b="1" kern="0" spc="1400" dirty="0">
                <a:solidFill>
                  <a:srgbClr val="FFFFFF"/>
                </a:solidFill>
                <a:latin typeface="Cambria" pitchFamily="34" charset="0"/>
                <a:ea typeface="Cambria" pitchFamily="34" charset="-122"/>
                <a:cs typeface="Cambria" pitchFamily="34" charset="-120"/>
              </a:rPr>
              <a:t>ONYX</a:t>
            </a:r>
            <a:endParaRPr lang="en-US" sz="7600" dirty="0"/>
          </a:p>
        </p:txBody>
      </p:sp>
      <p:sp>
        <p:nvSpPr>
          <p:cNvPr id="4" name="Text 1"/>
          <p:cNvSpPr/>
          <p:nvPr/>
        </p:nvSpPr>
        <p:spPr>
          <a:xfrm>
            <a:off x="0" y="1828800"/>
            <a:ext cx="12191695" cy="365760"/>
          </a:xfrm>
          <a:prstGeom prst="rect">
            <a:avLst/>
          </a:prstGeom>
          <a:noFill/>
          <a:ln/>
        </p:spPr>
        <p:txBody>
          <a:bodyPr wrap="square" lIns="0" tIns="0" rIns="0" bIns="0" rtlCol="0" anchor="ctr"/>
          <a:lstStyle/>
          <a:p>
            <a:pPr marL="0" indent="0" algn="ctr">
              <a:buNone/>
            </a:pPr>
            <a:r>
              <a:rPr lang="en-US" sz="1500" kern="0" spc="800" dirty="0">
                <a:solidFill>
                  <a:srgbClr val="B08D57"/>
                </a:solidFill>
                <a:latin typeface="Calibri" pitchFamily="34" charset="0"/>
                <a:ea typeface="Calibri" pitchFamily="34" charset="-122"/>
                <a:cs typeface="Calibri" pitchFamily="34" charset="-120"/>
              </a:rPr>
              <a:t>ACCOUNTING GROUP</a:t>
            </a:r>
            <a:endParaRPr lang="en-US" sz="1500" dirty="0"/>
          </a:p>
        </p:txBody>
      </p:sp>
      <p:sp>
        <p:nvSpPr>
          <p:cNvPr id="5" name="Text 2"/>
          <p:cNvSpPr/>
          <p:nvPr/>
        </p:nvSpPr>
        <p:spPr>
          <a:xfrm>
            <a:off x="0" y="2286000"/>
            <a:ext cx="12191695" cy="320040"/>
          </a:xfrm>
          <a:prstGeom prst="rect">
            <a:avLst/>
          </a:prstGeom>
          <a:noFill/>
          <a:ln/>
        </p:spPr>
        <p:txBody>
          <a:bodyPr wrap="square" lIns="0" tIns="0" rIns="0" bIns="0" rtlCol="0" anchor="ctr"/>
          <a:lstStyle/>
          <a:p>
            <a:pPr marL="0" indent="0" algn="ctr">
              <a:buNone/>
            </a:pPr>
            <a:r>
              <a:rPr lang="en-US" sz="1300" kern="0" dirty="0">
                <a:solidFill>
                  <a:srgbClr val="C9C9C9"/>
                </a:solidFill>
                <a:latin typeface="Calibri" pitchFamily="34" charset="0"/>
                <a:ea typeface="Calibri" pitchFamily="34" charset="-122"/>
                <a:cs typeface="Calibri" pitchFamily="34" charset="-120"/>
              </a:rPr>
              <a:t>Bookkeeping, Controller &amp; CFO Services</a:t>
            </a:r>
            <a:endParaRPr lang="en-US" sz="1300" dirty="0"/>
          </a:p>
        </p:txBody>
      </p:sp>
      <p:sp>
        <p:nvSpPr>
          <p:cNvPr id="7" name="Text 4"/>
          <p:cNvSpPr/>
          <p:nvPr/>
        </p:nvSpPr>
        <p:spPr>
          <a:xfrm>
            <a:off x="0" y="2834640"/>
            <a:ext cx="12191695" cy="365760"/>
          </a:xfrm>
          <a:prstGeom prst="rect">
            <a:avLst/>
          </a:prstGeom>
          <a:noFill/>
          <a:ln/>
        </p:spPr>
        <p:txBody>
          <a:bodyPr wrap="square" lIns="0" tIns="0" rIns="0" bIns="0" rtlCol="0" anchor="ctr"/>
          <a:lstStyle/>
          <a:p>
            <a:pPr marL="0" indent="0" algn="ctr">
              <a:buNone/>
            </a:pPr>
            <a:r>
              <a:rPr lang="en-US" sz="1500" i="1" kern="0" dirty="0">
                <a:solidFill>
                  <a:srgbClr val="B08D57"/>
                </a:solidFill>
                <a:latin typeface="Calibri" pitchFamily="34" charset="0"/>
                <a:ea typeface="Calibri" pitchFamily="34" charset="-122"/>
                <a:cs typeface="Calibri" pitchFamily="34" charset="-120"/>
              </a:rPr>
              <a:t>Bank-ready financials. Clean portfolios. Faster approvals.</a:t>
            </a:r>
            <a:endParaRPr lang="en-US" sz="1500" dirty="0"/>
          </a:p>
        </p:txBody>
      </p:sp>
      <p:sp>
        <p:nvSpPr>
          <p:cNvPr id="9" name="Prepared For"/>
          <p:cNvSpPr/>
          <p:nvPr/>
        </p:nvSpPr>
        <p:spPr>
          <a:xfrm>
            <a:off x="0" y="3520440"/>
            <a:ext cx="12191695" cy="274320"/>
          </a:xfrm>
          <a:prstGeom prst="rect">
            <a:avLst/>
          </a:prstGeom>
          <a:noFill/>
          <a:ln/>
        </p:spPr>
        <p:txBody>
          <a:bodyPr wrap="square" lIns="0" tIns="0" rIns="0" bIns="0" rtlCol="0" anchor="ctr"/>
          <a:lstStyle/>
          <a:p>
            <a:pPr marL="0" indent="0" algn="ctr">
              <a:buNone/>
            </a:pPr>
            <a:r>
              <a:rPr lang="en-US" sz="1100" kern="0" spc="600" dirty="0">
                <a:solidFill>
                  <a:srgbClr val="9E9E9E"/>
                </a:solidFill>
                <a:latin typeface="Calibri" pitchFamily="34" charset="0"/>
                <a:ea typeface="Calibri" pitchFamily="34" charset="-122"/>
                <a:cs typeface="Calibri" pitchFamily="34" charset="-120"/>
              </a:rPr>
              <a:t>PREPARED FOR</a:t>
            </a:r>
            <a:endParaRPr lang="en-US" sz="1100" dirty="0"/>
          </a:p>
        </p:txBody>
      </p:sp>
      <p:sp>
        <p:nvSpPr>
          <p:cNvPr id="10" name="TrustBank Chip"/>
          <p:cNvSpPr/>
          <p:nvPr/>
        </p:nvSpPr>
        <p:spPr>
          <a:xfrm>
            <a:off x="4907280" y="3840480"/>
            <a:ext cx="2377440" cy="681456"/>
          </a:xfrm>
          <a:prstGeom prst="roundRect">
            <a:avLst>
              <a:gd name="adj" fmla="val 16000"/>
            </a:avLst>
          </a:prstGeom>
          <a:solidFill>
            <a:srgbClr val="FFFFFF"/>
          </a:solidFill>
          <a:effectLst>
            <a:outerShdw blurRad="88900" dist="25400" dir="5400000" algn="bl" rotWithShape="0">
              <a:srgbClr val="000000">
                <a:alpha val="30000"/>
              </a:srgbClr>
            </a:outerShdw>
          </a:effectLst>
        </p:spPr>
        <p:txBody>
          <a:bodyPr/>
          <a:lstStyle/>
          <a:p>
            <a:endParaRPr lang="en-US"/>
          </a:p>
        </p:txBody>
      </p:sp>
      <p:pic>
        <p:nvPicPr>
          <p:cNvPr id="11" name="TrustBank Logo"/>
          <p:cNvPicPr>
            <a:picLocks noChangeAspect="1"/>
          </p:cNvPicPr>
          <p:nvPr/>
        </p:nvPicPr>
        <p:blipFill>
          <a:blip r:embed="rId3"/>
          <a:stretch>
            <a:fillRect/>
          </a:stretch>
        </p:blipFill>
        <p:spPr>
          <a:xfrm>
            <a:off x="5044440" y="3954333"/>
            <a:ext cx="2103120" cy="453750"/>
          </a:xfrm>
          <a:prstGeom prst="rect">
            <a:avLst/>
          </a:prstGeom>
        </p:spPr>
      </p:pic>
      <p:sp>
        <p:nvSpPr>
          <p:cNvPr id="12" name="Presented By"/>
          <p:cNvSpPr/>
          <p:nvPr/>
        </p:nvSpPr>
        <p:spPr>
          <a:xfrm>
            <a:off x="0" y="4800600"/>
            <a:ext cx="12191695" cy="274320"/>
          </a:xfrm>
          <a:prstGeom prst="rect">
            <a:avLst/>
          </a:prstGeom>
          <a:noFill/>
          <a:ln/>
        </p:spPr>
        <p:txBody>
          <a:bodyPr wrap="square" lIns="0" tIns="0" rIns="0" bIns="0" rtlCol="0" anchor="ctr"/>
          <a:lstStyle/>
          <a:p>
            <a:pPr marL="0" indent="0" algn="ctr">
              <a:buNone/>
            </a:pPr>
            <a:r>
              <a:rPr lang="en-US" sz="1100" kern="0" spc="600" dirty="0">
                <a:solidFill>
                  <a:srgbClr val="9E9E9E"/>
                </a:solidFill>
                <a:latin typeface="Calibri" pitchFamily="34" charset="0"/>
                <a:ea typeface="Calibri" pitchFamily="34" charset="-122"/>
                <a:cs typeface="Calibri" pitchFamily="34" charset="-120"/>
              </a:rPr>
              <a:t>PRESENTED BY</a:t>
            </a:r>
            <a:endParaRPr lang="en-US" sz="1100" dirty="0"/>
          </a:p>
        </p:txBody>
      </p:sp>
      <p:sp>
        <p:nvSpPr>
          <p:cNvPr id="13" name="Contact Left"/>
          <p:cNvSpPr/>
          <p:nvPr/>
        </p:nvSpPr>
        <p:spPr>
          <a:xfrm>
            <a:off x="2521000" y="5120640"/>
            <a:ext cx="330000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Steven Nikolov</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Founder, Principal &amp; CFO</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steven@onyxcfo.com</a:t>
            </a:r>
            <a:endParaRPr lang="en-US" sz="1050" dirty="0"/>
          </a:p>
        </p:txBody>
      </p:sp>
      <p:sp>
        <p:nvSpPr>
          <p:cNvPr id="14" name="Contact Right"/>
          <p:cNvSpPr/>
          <p:nvPr/>
        </p:nvSpPr>
        <p:spPr>
          <a:xfrm>
            <a:off x="6371000" y="5120640"/>
            <a:ext cx="3300000" cy="640080"/>
          </a:xfrm>
          <a:prstGeom prst="rect">
            <a:avLst/>
          </a:prstGeom>
          <a:noFill/>
          <a:ln/>
        </p:spPr>
        <p:txBody>
          <a:bodyPr wrap="square" lIns="0" tIns="0" rIns="0" bIns="0" rtlCol="0" anchor="t"/>
          <a:lstStyle/>
          <a:p>
            <a:pPr marL="0" indent="0" algn="ctr">
              <a:buNone/>
            </a:pPr>
            <a:r>
              <a:rPr lang="en-US" sz="1400" b="1" kern="0" dirty="0">
                <a:solidFill>
                  <a:srgbClr val="FFFFFF"/>
                </a:solidFill>
                <a:latin typeface="Cambria" pitchFamily="34" charset="0"/>
                <a:ea typeface="Cambria" pitchFamily="34" charset="-122"/>
                <a:cs typeface="Cambria" pitchFamily="34" charset="-120"/>
              </a:rPr>
              <a:t>Josephine Mack</a:t>
            </a:r>
            <a:endParaRPr lang="en-US" sz="1400" dirty="0"/>
          </a:p>
          <a:p>
            <a:pPr marL="0" indent="0" algn="ctr">
              <a:buNone/>
            </a:pPr>
            <a:r>
              <a:rPr lang="en-US" sz="1000" kern="0" dirty="0">
                <a:solidFill>
                  <a:srgbClr val="B08D57"/>
                </a:solidFill>
                <a:latin typeface="Calibri" pitchFamily="34" charset="0"/>
                <a:ea typeface="Calibri" pitchFamily="34" charset="-122"/>
                <a:cs typeface="Calibri" pitchFamily="34" charset="-120"/>
              </a:rPr>
              <a:t>Chief of Staff</a:t>
            </a:r>
            <a:endParaRPr lang="en-US" sz="1000" dirty="0"/>
          </a:p>
          <a:p>
            <a:pPr marL="0" indent="0" algn="ctr">
              <a:buNone/>
            </a:pPr>
            <a:r>
              <a:rPr lang="en-US" sz="1050" kern="0" dirty="0">
                <a:solidFill>
                  <a:srgbClr val="C9C9C9"/>
                </a:solidFill>
                <a:latin typeface="Calibri" pitchFamily="34" charset="0"/>
                <a:ea typeface="Calibri" pitchFamily="34" charset="-122"/>
                <a:cs typeface="Calibri" pitchFamily="34" charset="-120"/>
              </a:rPr>
              <a:t>jmack@onyxcfo.com</a:t>
            </a:r>
            <a:endParaRPr lang="en-US" sz="1050" dirty="0"/>
          </a:p>
        </p:txBody>
      </p:sp>
      <p:sp>
        <p:nvSpPr>
          <p:cNvPr id="8" name="Text 5"/>
          <p:cNvSpPr/>
          <p:nvPr/>
        </p:nvSpPr>
        <p:spPr>
          <a:xfrm>
            <a:off x="0" y="6126480"/>
            <a:ext cx="12191695" cy="274320"/>
          </a:xfrm>
          <a:prstGeom prst="rect">
            <a:avLst/>
          </a:prstGeom>
          <a:noFill/>
          <a:ln/>
        </p:spPr>
        <p:txBody>
          <a:bodyPr wrap="square" lIns="0" tIns="0" rIns="0" bIns="0" rtlCol="0" anchor="ctr"/>
          <a:lstStyle/>
          <a:p>
            <a:pPr marL="0" indent="0" algn="ctr">
              <a:buNone/>
            </a:pPr>
            <a:r>
              <a:rPr lang="en-US" sz="1050" kern="0" dirty="0">
                <a:solidFill>
                  <a:srgbClr val="9E9E9E"/>
                </a:solidFill>
                <a:latin typeface="Calibri" pitchFamily="34" charset="0"/>
                <a:ea typeface="Calibri" pitchFamily="34" charset="-122"/>
                <a:cs typeface="Calibri" pitchFamily="34" charset="-120"/>
              </a:rPr>
              <a:t>14614 N Kierland Blvd, Suite N220  ·  Scottsdale, AZ 85254  ·  (480) 442-3119  ·  onyxcfo.com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WHO WE ARE · THE FIRM</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A boutique firm with big-firm experience</a:t>
            </a:r>
          </a:p>
          <a:p>
            <a:pPr marL="0" indent="0">
              <a:buNone/>
            </a:pPr>
            <a:r>
              <a:rPr lang="en-US" sz="1050" b="1" dirty="0">
                <a:solidFill>
                  <a:srgbClr val="212121"/>
                </a:solidFill>
                <a:latin typeface="Cambria" pitchFamily="34" charset="0"/>
                <a:ea typeface="Cambria" pitchFamily="34" charset="-122"/>
                <a:cs typeface="Cambria" pitchFamily="34" charset="-120"/>
              </a:rPr>
              <a:t>Kierland neighbors: across the street from TrustBank’s Scottsdale office</a:t>
            </a:r>
            <a:endParaRPr lang="en-US" sz="1050" dirty="0"/>
          </a:p>
        </p:txBody>
      </p:sp>
      <p:sp>
        <p:nvSpPr>
          <p:cNvPr id="201" name="Stat Big 0"/>
          <p:cNvSpPr/>
          <p:nvPr/>
        </p:nvSpPr>
        <p:spPr>
          <a:xfrm>
            <a:off x="548640" y="1719072"/>
            <a:ext cx="5121840" cy="457200"/>
          </a:xfrm>
          <a:prstGeom prst="rect">
            <a:avLst/>
          </a:prstGeom>
          <a:noFill/>
          <a:ln/>
        </p:spPr>
        <p:txBody>
          <a:bodyPr wrap="square" lIns="0" tIns="0" rIns="0" bIns="0" rtlCol="0" anchor="t"/>
          <a:lstStyle/>
          <a:p>
            <a:pPr marL="0" indent="0" algn="l">
              <a:lnSpc>
                <a:spcPct val="112000"/>
              </a:lnSpc>
              <a:buNone/>
            </a:pPr>
            <a:r>
              <a:rPr lang="en-US" sz="2600" b="1" dirty="0">
                <a:solidFill>
                  <a:srgbClr val="B08D57"/>
                </a:solidFill>
                <a:latin typeface="Cambria" pitchFamily="18" charset="0"/>
                <a:ea typeface="Cambria" pitchFamily="18" charset="-122"/>
                <a:cs typeface="Times New Roman" pitchFamily="18" charset="0"/>
              </a:rPr>
              <a:t>TOP 10</a:t>
            </a:r>
            <a:endParaRPr lang="en-US" dirty="0"/>
          </a:p>
        </p:txBody>
      </p:sp>
      <p:sp>
        <p:nvSpPr>
          <p:cNvPr id="202" name="Stat Label 0"/>
          <p:cNvSpPr/>
          <p:nvPr/>
        </p:nvSpPr>
        <p:spPr>
          <a:xfrm>
            <a:off x="548640" y="2176272"/>
            <a:ext cx="5121840" cy="274320"/>
          </a:xfrm>
          <a:prstGeom prst="rect">
            <a:avLst/>
          </a:prstGeom>
          <a:noFill/>
          <a:ln/>
        </p:spPr>
        <p:txBody>
          <a:bodyPr wrap="square" lIns="0" tIns="0" rIns="0" bIns="0" rtlCol="0" anchor="t"/>
          <a:lstStyle/>
          <a:p>
            <a:pPr marL="0" indent="0" algn="l">
              <a:lnSpc>
                <a:spcPct val="112000"/>
              </a:lnSpc>
              <a:buNone/>
            </a:pPr>
            <a:r>
              <a:rPr lang="en-US" sz="1050" dirty="0">
                <a:solidFill>
                  <a:srgbClr val="5F5F5F"/>
                </a:solidFill>
                <a:latin typeface="Calibri" pitchFamily="34" charset="0"/>
                <a:ea typeface="Calibri" pitchFamily="34" charset="-122"/>
                <a:cs typeface="Calibri" pitchFamily="34" charset="-120"/>
              </a:rPr>
              <a:t>former Directors &amp; Managers of Top 10 accounting firms</a:t>
            </a:r>
            <a:endParaRPr lang="en-US" dirty="0"/>
          </a:p>
        </p:txBody>
      </p:sp>
      <p:sp>
        <p:nvSpPr>
          <p:cNvPr id="203" name="Stat Big 1"/>
          <p:cNvSpPr/>
          <p:nvPr/>
        </p:nvSpPr>
        <p:spPr>
          <a:xfrm>
            <a:off x="548640" y="3876644"/>
            <a:ext cx="5121840" cy="457200"/>
          </a:xfrm>
          <a:prstGeom prst="rect">
            <a:avLst/>
          </a:prstGeom>
          <a:noFill/>
          <a:ln/>
        </p:spPr>
        <p:txBody>
          <a:bodyPr wrap="square" lIns="0" tIns="0" rIns="0" bIns="0" rtlCol="0" anchor="t"/>
          <a:lstStyle/>
          <a:p>
            <a:pPr marL="0" indent="0" algn="l">
              <a:lnSpc>
                <a:spcPct val="112000"/>
              </a:lnSpc>
              <a:buNone/>
            </a:pPr>
            <a:r>
              <a:rPr lang="en-US" sz="2600" b="1" dirty="0">
                <a:solidFill>
                  <a:srgbClr val="B08D57"/>
                </a:solidFill>
                <a:latin typeface="Cambria" pitchFamily="18" charset="0"/>
                <a:ea typeface="Cambria" pitchFamily="18" charset="-122"/>
                <a:cs typeface="Times New Roman" pitchFamily="18" charset="0"/>
              </a:rPr>
              <a:t>PRIVATE EQUITY</a:t>
            </a:r>
            <a:endParaRPr lang="en-US" dirty="0"/>
          </a:p>
        </p:txBody>
      </p:sp>
      <p:sp>
        <p:nvSpPr>
          <p:cNvPr id="204" name="Stat Label 1"/>
          <p:cNvSpPr/>
          <p:nvPr/>
        </p:nvSpPr>
        <p:spPr>
          <a:xfrm>
            <a:off x="548640" y="4333844"/>
            <a:ext cx="5121840" cy="274320"/>
          </a:xfrm>
          <a:prstGeom prst="rect">
            <a:avLst/>
          </a:prstGeom>
          <a:noFill/>
          <a:ln/>
        </p:spPr>
        <p:txBody>
          <a:bodyPr wrap="square" lIns="0" tIns="0" rIns="0" bIns="0" rtlCol="0" anchor="t"/>
          <a:lstStyle/>
          <a:p>
            <a:pPr marL="0" indent="0" algn="l">
              <a:lnSpc>
                <a:spcPct val="112000"/>
              </a:lnSpc>
              <a:buNone/>
            </a:pPr>
            <a:r>
              <a:rPr lang="en-US" sz="1050" dirty="0">
                <a:solidFill>
                  <a:srgbClr val="5F5F5F"/>
                </a:solidFill>
                <a:latin typeface="Calibri" pitchFamily="34" charset="0"/>
                <a:ea typeface="Calibri" pitchFamily="34" charset="-122"/>
                <a:cs typeface="Calibri" pitchFamily="34" charset="-120"/>
              </a:rPr>
              <a:t>and private industry operating experience</a:t>
            </a:r>
            <a:endParaRPr lang="en-US" dirty="0"/>
          </a:p>
        </p:txBody>
      </p:sp>
      <p:sp>
        <p:nvSpPr>
          <p:cNvPr id="205" name="Stat Big 2"/>
          <p:cNvSpPr/>
          <p:nvPr/>
        </p:nvSpPr>
        <p:spPr>
          <a:xfrm>
            <a:off x="548640" y="2683512"/>
            <a:ext cx="5121840" cy="457200"/>
          </a:xfrm>
          <a:prstGeom prst="rect">
            <a:avLst/>
          </a:prstGeom>
          <a:noFill/>
          <a:ln/>
        </p:spPr>
        <p:txBody>
          <a:bodyPr wrap="square" lIns="0" tIns="0" rIns="0" bIns="0" rtlCol="0" anchor="t"/>
          <a:lstStyle/>
          <a:p>
            <a:pPr marL="0" indent="0" algn="l">
              <a:lnSpc>
                <a:spcPct val="112000"/>
              </a:lnSpc>
              <a:buNone/>
            </a:pPr>
            <a:r>
              <a:rPr lang="en-US" sz="2600" b="1" dirty="0">
                <a:solidFill>
                  <a:srgbClr val="B08D57"/>
                </a:solidFill>
                <a:latin typeface="Cambria" pitchFamily="18" charset="0"/>
                <a:ea typeface="Cambria" pitchFamily="18" charset="-122"/>
                <a:cs typeface="Times New Roman" pitchFamily="18" charset="0"/>
              </a:rPr>
              <a:t>MULTI-INDUSTRY</a:t>
            </a:r>
            <a:endParaRPr lang="en-US" dirty="0"/>
          </a:p>
        </p:txBody>
      </p:sp>
      <p:sp>
        <p:nvSpPr>
          <p:cNvPr id="206" name="Stat Label 2"/>
          <p:cNvSpPr/>
          <p:nvPr/>
        </p:nvSpPr>
        <p:spPr>
          <a:xfrm>
            <a:off x="548640" y="3140712"/>
            <a:ext cx="5121840" cy="502920"/>
          </a:xfrm>
          <a:prstGeom prst="rect">
            <a:avLst/>
          </a:prstGeom>
          <a:noFill/>
          <a:ln/>
        </p:spPr>
        <p:txBody>
          <a:bodyPr wrap="square" lIns="0" tIns="0" rIns="0" bIns="0" rtlCol="0" anchor="t"/>
          <a:lstStyle/>
          <a:p>
            <a:pPr marL="0" indent="0" algn="l">
              <a:lnSpc>
                <a:spcPct val="112000"/>
              </a:lnSpc>
              <a:buNone/>
            </a:pPr>
            <a:r>
              <a:rPr lang="en-US" sz="1050" dirty="0">
                <a:solidFill>
                  <a:srgbClr val="5F5F5F"/>
                </a:solidFill>
                <a:latin typeface="Calibri" pitchFamily="34" charset="0"/>
                <a:ea typeface="Calibri" pitchFamily="34" charset="-122"/>
                <a:cs typeface="Calibri" pitchFamily="34" charset="-120"/>
              </a:rPr>
              <a:t>construction · real estate · property management · professional services · distribution/retail</a:t>
            </a:r>
            <a:endParaRPr lang="en-US" dirty="0"/>
          </a:p>
        </p:txBody>
      </p:sp>
      <p:sp>
        <p:nvSpPr>
          <p:cNvPr id="4" name="Shape 2"/>
          <p:cNvSpPr/>
          <p:nvPr/>
        </p:nvSpPr>
        <p:spPr>
          <a:xfrm>
            <a:off x="6035040" y="1719072"/>
            <a:ext cx="2712720" cy="100584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5" name="Shape 3"/>
          <p:cNvSpPr/>
          <p:nvPr/>
        </p:nvSpPr>
        <p:spPr>
          <a:xfrm>
            <a:off x="6172200" y="1901952"/>
            <a:ext cx="365760" cy="365760"/>
          </a:xfrm>
          <a:prstGeom prst="ellipse">
            <a:avLst/>
          </a:prstGeom>
          <a:solidFill>
            <a:srgbClr val="B08D57"/>
          </a:solidFill>
          <a:ln/>
        </p:spPr>
        <p:txBody>
          <a:bodyPr/>
          <a:lstStyle/>
          <a:p>
            <a:endParaRPr lang="en-US"/>
          </a:p>
        </p:txBody>
      </p:sp>
      <p:pic>
        <p:nvPicPr>
          <p:cNvPr id="6" name="Image 0" descr="/sessions/blissful-awesome-feynman/build/icons/usertie.png"/>
          <p:cNvPicPr>
            <a:picLocks noChangeAspect="1"/>
          </p:cNvPicPr>
          <p:nvPr/>
        </p:nvPicPr>
        <p:blipFill>
          <a:blip r:embed="rId3"/>
          <a:stretch>
            <a:fillRect/>
          </a:stretch>
        </p:blipFill>
        <p:spPr>
          <a:xfrm>
            <a:off x="6267450" y="1997202"/>
            <a:ext cx="175260" cy="175260"/>
          </a:xfrm>
          <a:prstGeom prst="rect">
            <a:avLst/>
          </a:prstGeom>
        </p:spPr>
      </p:pic>
      <p:sp>
        <p:nvSpPr>
          <p:cNvPr id="7" name="Text 4"/>
          <p:cNvSpPr/>
          <p:nvPr/>
        </p:nvSpPr>
        <p:spPr>
          <a:xfrm>
            <a:off x="6675120" y="1865376"/>
            <a:ext cx="201168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Steven Nikolov</a:t>
            </a:r>
            <a:endParaRPr lang="en-US" sz="1600" dirty="0"/>
          </a:p>
        </p:txBody>
      </p:sp>
      <p:sp>
        <p:nvSpPr>
          <p:cNvPr id="8" name="Text 5"/>
          <p:cNvSpPr/>
          <p:nvPr/>
        </p:nvSpPr>
        <p:spPr>
          <a:xfrm>
            <a:off x="6675120" y="2139696"/>
            <a:ext cx="1980000" cy="457200"/>
          </a:xfrm>
          <a:prstGeom prst="rect">
            <a:avLst/>
          </a:prstGeom>
          <a:noFill/>
          <a:ln/>
        </p:spPr>
        <p:txBody>
          <a:bodyPr wrap="square" lIns="0" tIns="0" rIns="0" bIns="0" rtlCol="0" anchor="ctr"/>
          <a:lstStyle/>
          <a:p>
            <a:pPr marL="0" indent="0">
              <a:buNone/>
            </a:pPr>
            <a:r>
              <a:rPr lang="en-US" sz="1150" b="1" dirty="0">
                <a:solidFill>
                  <a:srgbClr val="8F7346"/>
                </a:solidFill>
                <a:latin typeface="Calibri" pitchFamily="34" charset="0"/>
                <a:ea typeface="Calibri" pitchFamily="34" charset="-122"/>
                <a:cs typeface="Calibri" pitchFamily="34" charset="-120"/>
              </a:rPr>
              <a:t>FOUNDER · PRINCIPAL · OUTSOURCED CFO</a:t>
            </a:r>
            <a:endParaRPr lang="en-US" sz="1150" dirty="0"/>
          </a:p>
        </p:txBody>
      </p:sp>
      <p:sp>
        <p:nvSpPr>
          <p:cNvPr id="10" name="Shape 7"/>
          <p:cNvSpPr/>
          <p:nvPr/>
        </p:nvSpPr>
        <p:spPr>
          <a:xfrm>
            <a:off x="8930640" y="1719072"/>
            <a:ext cx="2712720" cy="100584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 name="Shape 8"/>
          <p:cNvSpPr/>
          <p:nvPr/>
        </p:nvSpPr>
        <p:spPr>
          <a:xfrm>
            <a:off x="9067800" y="1901952"/>
            <a:ext cx="365760" cy="365760"/>
          </a:xfrm>
          <a:prstGeom prst="ellipse">
            <a:avLst/>
          </a:prstGeom>
          <a:solidFill>
            <a:srgbClr val="B08D57"/>
          </a:solidFill>
          <a:ln/>
        </p:spPr>
        <p:txBody>
          <a:bodyPr/>
          <a:lstStyle/>
          <a:p>
            <a:endParaRPr lang="en-US"/>
          </a:p>
        </p:txBody>
      </p:sp>
      <p:pic>
        <p:nvPicPr>
          <p:cNvPr id="12" name="Image 1" descr="/sessions/blissful-awesome-feynman/build/icons/user.png"/>
          <p:cNvPicPr>
            <a:picLocks noChangeAspect="1"/>
          </p:cNvPicPr>
          <p:nvPr/>
        </p:nvPicPr>
        <p:blipFill>
          <a:blip r:embed="rId4"/>
          <a:stretch>
            <a:fillRect/>
          </a:stretch>
        </p:blipFill>
        <p:spPr>
          <a:xfrm>
            <a:off x="9163050" y="1997202"/>
            <a:ext cx="175260" cy="175260"/>
          </a:xfrm>
          <a:prstGeom prst="rect">
            <a:avLst/>
          </a:prstGeom>
        </p:spPr>
      </p:pic>
      <p:sp>
        <p:nvSpPr>
          <p:cNvPr id="13" name="Text 9"/>
          <p:cNvSpPr/>
          <p:nvPr/>
        </p:nvSpPr>
        <p:spPr>
          <a:xfrm>
            <a:off x="9570720" y="1865376"/>
            <a:ext cx="201168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Josephine Mack</a:t>
            </a:r>
            <a:endParaRPr lang="en-US" sz="1600" dirty="0"/>
          </a:p>
        </p:txBody>
      </p:sp>
      <p:sp>
        <p:nvSpPr>
          <p:cNvPr id="14" name="Text 10"/>
          <p:cNvSpPr/>
          <p:nvPr/>
        </p:nvSpPr>
        <p:spPr>
          <a:xfrm>
            <a:off x="9570720" y="2139696"/>
            <a:ext cx="1980000" cy="457200"/>
          </a:xfrm>
          <a:prstGeom prst="rect">
            <a:avLst/>
          </a:prstGeom>
          <a:noFill/>
          <a:ln/>
        </p:spPr>
        <p:txBody>
          <a:bodyPr wrap="square" lIns="0" tIns="0" rIns="0" bIns="0" rtlCol="0" anchor="ctr"/>
          <a:lstStyle/>
          <a:p>
            <a:pPr marL="0" indent="0">
              <a:buNone/>
            </a:pPr>
            <a:r>
              <a:rPr lang="en-US" sz="1150" b="1" dirty="0">
                <a:solidFill>
                  <a:srgbClr val="8F7346"/>
                </a:solidFill>
                <a:latin typeface="Calibri" pitchFamily="34" charset="0"/>
                <a:ea typeface="Calibri" pitchFamily="34" charset="-122"/>
                <a:cs typeface="Calibri" pitchFamily="34" charset="-120"/>
              </a:rPr>
              <a:t>EXEC ADMIN · CHIEF OF STAFF · CLIENT RELATIONS</a:t>
            </a:r>
            <a:endParaRPr lang="en-US" sz="1150" dirty="0"/>
          </a:p>
        </p:txBody>
      </p:sp>
      <p:sp>
        <p:nvSpPr>
          <p:cNvPr id="16" name="Shape 12"/>
          <p:cNvSpPr/>
          <p:nvPr/>
        </p:nvSpPr>
        <p:spPr>
          <a:xfrm>
            <a:off x="6035040" y="3090672"/>
            <a:ext cx="2712720" cy="11887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21" name="Shape 16"/>
          <p:cNvSpPr/>
          <p:nvPr/>
        </p:nvSpPr>
        <p:spPr>
          <a:xfrm>
            <a:off x="8930640" y="3090672"/>
            <a:ext cx="2712720" cy="11887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01" name="US Team Text"/>
          <p:cNvSpPr/>
          <p:nvPr/>
        </p:nvSpPr>
        <p:spPr>
          <a:xfrm>
            <a:off x="6035040" y="3316056"/>
            <a:ext cx="2712720" cy="731520"/>
          </a:xfrm>
          <a:prstGeom prst="rect">
            <a:avLst/>
          </a:prstGeom>
          <a:noFill/>
          <a:ln/>
        </p:spPr>
        <p:txBody>
          <a:bodyPr wrap="square" lIns="0" tIns="0" rIns="0" bIns="0" rtlCol="0" anchor="t"/>
          <a:lstStyle/>
          <a:p>
            <a:pPr marL="0" indent="0" algn="ctr">
              <a:lnSpc>
                <a:spcPct val="112000"/>
              </a:lnSpc>
              <a:buNone/>
            </a:pPr>
            <a:r>
              <a:rPr lang="en-US" sz="1100" b="1" kern="0" spc="300" dirty="0">
                <a:solidFill>
                  <a:srgbClr val="B08D57"/>
                </a:solidFill>
                <a:latin typeface="Calibri" pitchFamily="34" charset="0"/>
                <a:ea typeface="Calibri" pitchFamily="34" charset="-122"/>
                <a:cs typeface="Calibri" pitchFamily="34" charset="-120"/>
              </a:rPr>
              <a:t>US TEAM</a:t>
            </a:r>
            <a:endParaRPr lang="en-US" dirty="0"/>
          </a:p>
          <a:p>
            <a:pPr marL="0" indent="0" algn="ctr">
              <a:lnSpc>
                <a:spcPct val="112000"/>
              </a:lnSpc>
              <a:spcBef>
                <a:spcPts val="600"/>
              </a:spcBef>
              <a:buNone/>
            </a:pPr>
            <a:r>
              <a:rPr lang="en-US" sz="1050" dirty="0">
                <a:solidFill>
                  <a:srgbClr val="5F5F5F"/>
                </a:solidFill>
                <a:latin typeface="Calibri" pitchFamily="34" charset="0"/>
                <a:ea typeface="Calibri" pitchFamily="34" charset="-122"/>
                <a:cs typeface="Calibri" pitchFamily="34" charset="-120"/>
              </a:rPr>
              <a:t>Management &amp; staff</a:t>
            </a:r>
            <a:endParaRPr lang="en-US" dirty="0"/>
          </a:p>
        </p:txBody>
      </p:sp>
      <p:sp>
        <p:nvSpPr>
          <p:cNvPr id="402" name="EU Team Text"/>
          <p:cNvSpPr/>
          <p:nvPr/>
        </p:nvSpPr>
        <p:spPr>
          <a:xfrm>
            <a:off x="8930640" y="3316056"/>
            <a:ext cx="2712720" cy="731520"/>
          </a:xfrm>
          <a:prstGeom prst="rect">
            <a:avLst/>
          </a:prstGeom>
          <a:noFill/>
          <a:ln/>
        </p:spPr>
        <p:txBody>
          <a:bodyPr wrap="square" lIns="0" tIns="0" rIns="0" bIns="0" rtlCol="0" anchor="t"/>
          <a:lstStyle/>
          <a:p>
            <a:pPr marL="0" indent="0" algn="ctr">
              <a:lnSpc>
                <a:spcPct val="112000"/>
              </a:lnSpc>
              <a:buNone/>
            </a:pPr>
            <a:r>
              <a:rPr lang="en-US" sz="1100" b="1" kern="0" spc="300" dirty="0">
                <a:solidFill>
                  <a:srgbClr val="B08D57"/>
                </a:solidFill>
                <a:latin typeface="Calibri" pitchFamily="34" charset="0"/>
                <a:ea typeface="Calibri" pitchFamily="34" charset="-122"/>
                <a:cs typeface="Calibri" pitchFamily="34" charset="-120"/>
              </a:rPr>
              <a:t>EUROPEAN TEAM</a:t>
            </a:r>
            <a:endParaRPr lang="en-US" dirty="0"/>
          </a:p>
          <a:p>
            <a:pPr marL="0" indent="0" algn="ctr">
              <a:lnSpc>
                <a:spcPct val="112000"/>
              </a:lnSpc>
              <a:spcBef>
                <a:spcPts val="600"/>
              </a:spcBef>
              <a:buNone/>
            </a:pPr>
            <a:r>
              <a:rPr lang="en-US" sz="1050" dirty="0">
                <a:solidFill>
                  <a:srgbClr val="5F5F5F"/>
                </a:solidFill>
                <a:latin typeface="Calibri" pitchFamily="34" charset="0"/>
                <a:ea typeface="Calibri" pitchFamily="34" charset="-122"/>
                <a:cs typeface="Calibri" pitchFamily="34" charset="-120"/>
              </a:rPr>
              <a:t>Staff &amp; support · Global IT</a:t>
            </a:r>
            <a:endParaRPr lang="en-US" dirty="0"/>
          </a:p>
        </p:txBody>
      </p:sp>
      <p:cxnSp>
        <p:nvCxnSpPr>
          <p:cNvPr id="403" name="Org V1"/>
          <p:cNvCxnSpPr/>
          <p:nvPr/>
        </p:nvCxnSpPr>
        <p:spPr>
          <a:xfrm>
            <a:off x="7391400" y="2724912"/>
            <a:ext cx="0" cy="365760"/>
          </a:xfrm>
          <a:prstGeom prst="line">
            <a:avLst/>
          </a:prstGeom>
          <a:ln w="12700">
            <a:solidFill>
              <a:srgbClr val="C9B08A"/>
            </a:solidFill>
          </a:ln>
        </p:spPr>
        <p:style>
          <a:lnRef idx="1">
            <a:schemeClr val="accent1"/>
          </a:lnRef>
          <a:fillRef idx="0">
            <a:schemeClr val="accent1"/>
          </a:fillRef>
          <a:effectRef idx="0">
            <a:schemeClr val="accent1"/>
          </a:effectRef>
          <a:fontRef idx="minor">
            <a:schemeClr val="tx1"/>
          </a:fontRef>
        </p:style>
      </p:cxnSp>
      <p:cxnSp>
        <p:nvCxnSpPr>
          <p:cNvPr id="404" name="Org V2"/>
          <p:cNvCxnSpPr/>
          <p:nvPr/>
        </p:nvCxnSpPr>
        <p:spPr>
          <a:xfrm>
            <a:off x="10287000" y="2724912"/>
            <a:ext cx="0" cy="365760"/>
          </a:xfrm>
          <a:prstGeom prst="line">
            <a:avLst/>
          </a:prstGeom>
          <a:ln w="12700">
            <a:solidFill>
              <a:srgbClr val="C9B08A"/>
            </a:solidFill>
          </a:ln>
        </p:spPr>
        <p:style>
          <a:lnRef idx="1">
            <a:schemeClr val="accent1"/>
          </a:lnRef>
          <a:fillRef idx="0">
            <a:schemeClr val="accent1"/>
          </a:fillRef>
          <a:effectRef idx="0">
            <a:schemeClr val="accent1"/>
          </a:effectRef>
          <a:fontRef idx="minor">
            <a:schemeClr val="tx1"/>
          </a:fontRef>
        </p:style>
      </p:cxnSp>
      <p:cxnSp>
        <p:nvCxnSpPr>
          <p:cNvPr id="405" name="Org Rail"/>
          <p:cNvCxnSpPr/>
          <p:nvPr/>
        </p:nvCxnSpPr>
        <p:spPr>
          <a:xfrm>
            <a:off x="7391400" y="2907792"/>
            <a:ext cx="2895600" cy="0"/>
          </a:xfrm>
          <a:prstGeom prst="line">
            <a:avLst/>
          </a:prstGeom>
          <a:ln w="12700">
            <a:solidFill>
              <a:srgbClr val="C9B08A"/>
            </a:solidFill>
          </a:ln>
        </p:spPr>
        <p:style>
          <a:lnRef idx="1">
            <a:schemeClr val="accent1"/>
          </a:lnRef>
          <a:fillRef idx="0">
            <a:schemeClr val="accent1"/>
          </a:fillRef>
          <a:effectRef idx="0">
            <a:schemeClr val="accent1"/>
          </a:effectRef>
          <a:fontRef idx="minor">
            <a:schemeClr val="tx1"/>
          </a:fontRef>
        </p:style>
      </p:cxnSp>
      <p:cxnSp>
        <p:nvCxnSpPr>
          <p:cNvPr id="406" name="Stat Div 1"/>
          <p:cNvCxnSpPr/>
          <p:nvPr/>
        </p:nvCxnSpPr>
        <p:spPr>
          <a:xfrm>
            <a:off x="548640" y="2567052"/>
            <a:ext cx="4572000" cy="0"/>
          </a:xfrm>
          <a:prstGeom prst="line">
            <a:avLst/>
          </a:prstGeom>
          <a:ln w="9525">
            <a:solidFill>
              <a:srgbClr val="E0E0E0"/>
            </a:solidFill>
          </a:ln>
        </p:spPr>
        <p:style>
          <a:lnRef idx="1">
            <a:schemeClr val="accent1"/>
          </a:lnRef>
          <a:fillRef idx="0">
            <a:schemeClr val="accent1"/>
          </a:fillRef>
          <a:effectRef idx="0">
            <a:schemeClr val="accent1"/>
          </a:effectRef>
          <a:fontRef idx="minor">
            <a:schemeClr val="tx1"/>
          </a:fontRef>
        </p:style>
      </p:cxnSp>
      <p:cxnSp>
        <p:nvCxnSpPr>
          <p:cNvPr id="407" name="Stat Div 2"/>
          <p:cNvCxnSpPr/>
          <p:nvPr/>
        </p:nvCxnSpPr>
        <p:spPr>
          <a:xfrm>
            <a:off x="548640" y="3760138"/>
            <a:ext cx="4572000" cy="0"/>
          </a:xfrm>
          <a:prstGeom prst="line">
            <a:avLst/>
          </a:prstGeom>
          <a:ln w="9525">
            <a:solidFill>
              <a:srgbClr val="E0E0E0"/>
            </a:solidFill>
          </a:ln>
        </p:spPr>
        <p:style>
          <a:lnRef idx="1">
            <a:schemeClr val="accent1"/>
          </a:lnRef>
          <a:fillRef idx="0">
            <a:schemeClr val="accent1"/>
          </a:fillRef>
          <a:effectRef idx="0">
            <a:schemeClr val="accent1"/>
          </a:effectRef>
          <a:fontRef idx="minor">
            <a:schemeClr val="tx1"/>
          </a:fontRef>
        </p:style>
      </p:cxnSp>
      <p:sp>
        <p:nvSpPr>
          <p:cNvPr id="408" name="Intuit Chip"/>
          <p:cNvSpPr/>
          <p:nvPr/>
        </p:nvSpPr>
        <p:spPr>
          <a:xfrm>
            <a:off x="548640" y="4800600"/>
            <a:ext cx="539524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09" name="Experience Chip"/>
          <p:cNvSpPr/>
          <p:nvPr/>
        </p:nvSpPr>
        <p:spPr>
          <a:xfrm>
            <a:off x="6248400" y="4800600"/>
            <a:ext cx="539524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0" name="QB Badge"/>
          <p:cNvSpPr/>
          <p:nvPr/>
        </p:nvSpPr>
        <p:spPr>
          <a:xfrm>
            <a:off x="822960" y="4983480"/>
            <a:ext cx="457200" cy="457200"/>
          </a:xfrm>
          <a:prstGeom prst="ellipse">
            <a:avLst/>
          </a:prstGeom>
          <a:solidFill>
            <a:srgbClr val="2CA01C"/>
          </a:solid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qb</a:t>
            </a:r>
            <a:endParaRPr lang="en-US" dirty="0"/>
          </a:p>
        </p:txBody>
      </p:sp>
      <p:sp>
        <p:nvSpPr>
          <p:cNvPr id="411" name="Intuit Text"/>
          <p:cNvSpPr/>
          <p:nvPr/>
        </p:nvSpPr>
        <p:spPr>
          <a:xfrm>
            <a:off x="1417320" y="4800600"/>
            <a:ext cx="4389120" cy="822960"/>
          </a:xfrm>
          <a:prstGeom prst="rect">
            <a:avLst/>
          </a:prstGeom>
          <a:noFill/>
          <a:ln/>
        </p:spPr>
        <p:txBody>
          <a:bodyPr wrap="square" lIns="0" tIns="0" rIns="0" bIns="0" rtlCol="0" anchor="ctr"/>
          <a:lstStyle/>
          <a:p>
            <a:pPr marL="0" indent="0">
              <a:lnSpc>
                <a:spcPct val="112000"/>
              </a:lnSpc>
              <a:buNone/>
            </a:pPr>
            <a:r>
              <a:rPr lang="en-US" sz="1200" b="1" dirty="0">
                <a:solidFill>
                  <a:srgbClr val="212121"/>
                </a:solidFill>
                <a:latin typeface="Calibri" pitchFamily="34" charset="0"/>
                <a:ea typeface="Calibri" pitchFamily="34" charset="-122"/>
                <a:cs typeface="Calibri" pitchFamily="34" charset="-120"/>
              </a:rPr>
              <a:t>Intuit QuickBooks Elite</a:t>
            </a:r>
            <a:r>
              <a:rPr lang="en-US" sz="1150" dirty="0">
                <a:solidFill>
                  <a:srgbClr val="5F5F5F"/>
                </a:solidFill>
                <a:latin typeface="Calibri" pitchFamily="34" charset="0"/>
                <a:ea typeface="Calibri" pitchFamily="34" charset="-122"/>
                <a:cs typeface="Calibri" pitchFamily="34" charset="-120"/>
              </a:rPr>
              <a:t> · the highest partnership tier</a:t>
            </a:r>
            <a:endParaRPr lang="en-US" dirty="0"/>
          </a:p>
        </p:txBody>
      </p:sp>
      <p:sp>
        <p:nvSpPr>
          <p:cNvPr id="412" name="Experience Text"/>
          <p:cNvSpPr/>
          <p:nvPr/>
        </p:nvSpPr>
        <p:spPr>
          <a:xfrm>
            <a:off x="7117080" y="4800600"/>
            <a:ext cx="4389120" cy="822960"/>
          </a:xfrm>
          <a:prstGeom prst="rect">
            <a:avLst/>
          </a:prstGeom>
          <a:noFill/>
          <a:ln/>
        </p:spPr>
        <p:txBody>
          <a:bodyPr wrap="square" lIns="0" tIns="0" rIns="0" bIns="0" rtlCol="0" anchor="ctr"/>
          <a:lstStyle/>
          <a:p>
            <a:pPr marL="0" indent="0">
              <a:lnSpc>
                <a:spcPct val="112000"/>
              </a:lnSpc>
              <a:buNone/>
            </a:pPr>
            <a:r>
              <a:rPr lang="en-US" sz="1200" b="1" dirty="0">
                <a:solidFill>
                  <a:srgbClr val="212121"/>
                </a:solidFill>
                <a:latin typeface="Calibri" pitchFamily="34" charset="0"/>
                <a:ea typeface="Calibri" pitchFamily="34" charset="-122"/>
                <a:cs typeface="Calibri" pitchFamily="34" charset="-120"/>
              </a:rPr>
              <a:t>10+ years minimum experience</a:t>
            </a:r>
            <a:r>
              <a:rPr lang="en-US" sz="1150" dirty="0">
                <a:solidFill>
                  <a:srgbClr val="5F5F5F"/>
                </a:solidFill>
                <a:latin typeface="Calibri" pitchFamily="34" charset="0"/>
                <a:ea typeface="Calibri" pitchFamily="34" charset="-122"/>
                <a:cs typeface="Calibri" pitchFamily="34" charset="-120"/>
              </a:rPr>
              <a:t> · across every accountant on the team</a:t>
            </a:r>
            <a:endParaRPr lang="en-US" dirty="0"/>
          </a:p>
        </p:txBody>
      </p:sp>
      <p:sp>
        <p:nvSpPr>
          <p:cNvPr id="22" name="Shape 17"/>
          <p:cNvSpPr/>
          <p:nvPr/>
        </p:nvSpPr>
        <p:spPr>
          <a:xfrm>
            <a:off x="6522720" y="4983480"/>
            <a:ext cx="457200" cy="457200"/>
          </a:xfrm>
          <a:prstGeom prst="ellipse">
            <a:avLst/>
          </a:prstGeom>
          <a:solidFill>
            <a:srgbClr val="B08D57"/>
          </a:solidFill>
          <a:ln/>
        </p:spPr>
        <p:txBody>
          <a:bodyPr/>
          <a:lstStyle/>
          <a:p>
            <a:endParaRPr lang="en-US"/>
          </a:p>
        </p:txBody>
      </p:sp>
      <p:pic>
        <p:nvPicPr>
          <p:cNvPr id="23" name="Image 3" descr="/sessions/blissful-awesome-feynman/build/icons/users.png"/>
          <p:cNvPicPr>
            <a:picLocks noChangeAspect="1"/>
          </p:cNvPicPr>
          <p:nvPr/>
        </p:nvPicPr>
        <p:blipFill>
          <a:blip r:embed="rId5"/>
          <a:stretch>
            <a:fillRect/>
          </a:stretch>
        </p:blipFill>
        <p:spPr>
          <a:xfrm>
            <a:off x="6641592" y="5102352"/>
            <a:ext cx="219456" cy="219456"/>
          </a:xfrm>
          <a:prstGeom prst="rect">
            <a:avLst/>
          </a:prstGeom>
        </p:spPr>
      </p:pic>
      <p:sp>
        <p:nvSpPr>
          <p:cNvPr id="207" name="Team Footer"/>
          <p:cNvSpPr/>
          <p:nvPr/>
        </p:nvSpPr>
        <p:spPr>
          <a:xfrm>
            <a:off x="548640" y="5852160"/>
            <a:ext cx="11064240" cy="365760"/>
          </a:xfrm>
          <a:prstGeom prst="rect">
            <a:avLst/>
          </a:prstGeom>
          <a:noFill/>
          <a:ln/>
        </p:spPr>
        <p:txBody>
          <a:bodyPr wrap="square" lIns="0" tIns="0" rIns="0" bIns="0" rtlCol="0" anchor="t"/>
          <a:lstStyle/>
          <a:p>
            <a:pPr marL="0" indent="0" algn="l">
              <a:lnSpc>
                <a:spcPct val="112000"/>
              </a:lnSpc>
              <a:buNone/>
            </a:pPr>
            <a:r>
              <a:rPr lang="en-US" sz="1150" i="1" dirty="0">
                <a:solidFill>
                  <a:srgbClr val="B08D57"/>
                </a:solidFill>
                <a:latin typeface="Calibri" pitchFamily="34" charset="0"/>
                <a:ea typeface="Calibri" pitchFamily="34" charset="-122"/>
                <a:cs typeface="Calibri" pitchFamily="34" charset="-120"/>
              </a:rPr>
              <a:t>Partner-level work, delivered by the people you actually talk to.</a:t>
            </a:r>
            <a:endParaRPr lang="en-US" dirty="0"/>
          </a:p>
        </p:txBody>
      </p:sp>
      <p:sp>
        <p:nvSpPr>
          <p:cNvPr id="31" name="Text 24"/>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OUR ROLE</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Not another bookkeeper or fractional firm</a:t>
            </a:r>
            <a:endParaRPr lang="en-US" sz="3000" dirty="0"/>
          </a:p>
        </p:txBody>
      </p:sp>
      <p:sp>
        <p:nvSpPr>
          <p:cNvPr id="4" name="Text 2"/>
          <p:cNvSpPr/>
          <p:nvPr/>
        </p:nvSpPr>
        <p:spPr>
          <a:xfrm>
            <a:off x="548640" y="1463040"/>
            <a:ext cx="5806440" cy="777240"/>
          </a:xfrm>
          <a:prstGeom prst="rect">
            <a:avLst/>
          </a:prstGeom>
          <a:noFill/>
          <a:ln/>
        </p:spPr>
        <p:txBody>
          <a:bodyPr wrap="square" lIns="0" tIns="0" rIns="0" bIns="0" rtlCol="0" anchor="t"/>
          <a:lstStyle/>
          <a:p>
            <a:pPr marL="0" indent="0">
              <a:lnSpc>
                <a:spcPct val="108000"/>
              </a:lnSpc>
              <a:buNone/>
            </a:pPr>
            <a:r>
              <a:rPr lang="en-US" sz="1300" dirty="0">
                <a:solidFill>
                  <a:srgbClr val="5F5F5F"/>
                </a:solidFill>
                <a:latin typeface="Calibri" pitchFamily="34" charset="0"/>
                <a:ea typeface="Calibri" pitchFamily="34" charset="-122"/>
                <a:cs typeface="Calibri" pitchFamily="34" charset="-120"/>
              </a:rPr>
              <a:t>Onyx Accounting Group is an outsourced bookkeeping, controller &amp; CFO firm in Scottsdale. We sit on the clients’ side of the table and we build books that banks can lend on.</a:t>
            </a:r>
            <a:endParaRPr lang="en-US" sz="1300" dirty="0"/>
          </a:p>
        </p:txBody>
      </p:sp>
      <p:sp>
        <p:nvSpPr>
          <p:cNvPr id="9" name="Shape 6"/>
          <p:cNvSpPr/>
          <p:nvPr/>
        </p:nvSpPr>
        <p:spPr>
          <a:xfrm>
            <a:off x="548640" y="2606040"/>
            <a:ext cx="420624" cy="420624"/>
          </a:xfrm>
          <a:prstGeom prst="ellipse">
            <a:avLst/>
          </a:prstGeom>
          <a:solidFill>
            <a:srgbClr val="B08D57"/>
          </a:solidFill>
          <a:ln/>
        </p:spPr>
        <p:txBody>
          <a:bodyPr/>
          <a:lstStyle/>
          <a:p>
            <a:endParaRPr lang="en-US"/>
          </a:p>
        </p:txBody>
      </p:sp>
      <p:pic>
        <p:nvPicPr>
          <p:cNvPr id="10" name="Image 1" descr="/sessions/blissful-awesome-feynman/build/icons/landmark.png"/>
          <p:cNvPicPr>
            <a:picLocks noChangeAspect="1"/>
          </p:cNvPicPr>
          <p:nvPr/>
        </p:nvPicPr>
        <p:blipFill>
          <a:blip r:embed="rId3"/>
          <a:stretch>
            <a:fillRect/>
          </a:stretch>
        </p:blipFill>
        <p:spPr>
          <a:xfrm>
            <a:off x="658002" y="2715402"/>
            <a:ext cx="201900" cy="201900"/>
          </a:xfrm>
          <a:prstGeom prst="rect">
            <a:avLst/>
          </a:prstGeom>
        </p:spPr>
      </p:pic>
      <p:sp>
        <p:nvSpPr>
          <p:cNvPr id="11" name="Text 7"/>
          <p:cNvSpPr/>
          <p:nvPr/>
        </p:nvSpPr>
        <p:spPr>
          <a:xfrm>
            <a:off x="1143000" y="256032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Fluent in bank</a:t>
            </a:r>
            <a:endParaRPr lang="en-US" sz="1400" dirty="0"/>
          </a:p>
        </p:txBody>
      </p:sp>
      <p:sp>
        <p:nvSpPr>
          <p:cNvPr id="12" name="Text 8"/>
          <p:cNvSpPr/>
          <p:nvPr/>
        </p:nvSpPr>
        <p:spPr>
          <a:xfrm>
            <a:off x="1143000" y="283464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We know what credit teams need to see, and we build the books to show it.</a:t>
            </a:r>
            <a:endParaRPr lang="en-US" sz="1150" dirty="0"/>
          </a:p>
        </p:txBody>
      </p:sp>
      <p:sp>
        <p:nvSpPr>
          <p:cNvPr id="13" name="Shape 9"/>
          <p:cNvSpPr/>
          <p:nvPr/>
        </p:nvSpPr>
        <p:spPr>
          <a:xfrm>
            <a:off x="548640" y="3733800"/>
            <a:ext cx="420624" cy="420624"/>
          </a:xfrm>
          <a:prstGeom prst="ellipse">
            <a:avLst/>
          </a:prstGeom>
          <a:solidFill>
            <a:srgbClr val="B08D57"/>
          </a:solidFill>
          <a:ln/>
        </p:spPr>
        <p:txBody>
          <a:bodyPr/>
          <a:lstStyle/>
          <a:p>
            <a:endParaRPr lang="en-US"/>
          </a:p>
        </p:txBody>
      </p:sp>
      <p:pic>
        <p:nvPicPr>
          <p:cNvPr id="14" name="Image 2" descr="/sessions/blissful-awesome-feynman/build/icons/award.png"/>
          <p:cNvPicPr>
            <a:picLocks noChangeAspect="1"/>
          </p:cNvPicPr>
          <p:nvPr/>
        </p:nvPicPr>
        <p:blipFill>
          <a:blip r:embed="rId4"/>
          <a:stretch>
            <a:fillRect/>
          </a:stretch>
        </p:blipFill>
        <p:spPr>
          <a:xfrm>
            <a:off x="658002" y="3843162"/>
            <a:ext cx="201900" cy="201900"/>
          </a:xfrm>
          <a:prstGeom prst="rect">
            <a:avLst/>
          </a:prstGeom>
        </p:spPr>
      </p:pic>
      <p:sp>
        <p:nvSpPr>
          <p:cNvPr id="15" name="Text 10"/>
          <p:cNvSpPr/>
          <p:nvPr/>
        </p:nvSpPr>
        <p:spPr>
          <a:xfrm>
            <a:off x="1143000" y="368808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Big-firm quality, not big-firm price</a:t>
            </a:r>
            <a:endParaRPr lang="en-US" sz="1400" dirty="0"/>
          </a:p>
        </p:txBody>
      </p:sp>
      <p:sp>
        <p:nvSpPr>
          <p:cNvPr id="16" name="Text 11"/>
          <p:cNvSpPr/>
          <p:nvPr/>
        </p:nvSpPr>
        <p:spPr>
          <a:xfrm>
            <a:off x="1143000" y="396240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Tailored monthly packages for startups through multi-state businesses.</a:t>
            </a:r>
            <a:endParaRPr lang="en-US" sz="1150" dirty="0"/>
          </a:p>
        </p:txBody>
      </p:sp>
      <p:sp>
        <p:nvSpPr>
          <p:cNvPr id="17" name="Shape 12"/>
          <p:cNvSpPr/>
          <p:nvPr/>
        </p:nvSpPr>
        <p:spPr>
          <a:xfrm>
            <a:off x="548640" y="4861560"/>
            <a:ext cx="420624" cy="420624"/>
          </a:xfrm>
          <a:prstGeom prst="ellipse">
            <a:avLst/>
          </a:prstGeom>
          <a:solidFill>
            <a:srgbClr val="B08D57"/>
          </a:solidFill>
          <a:ln/>
        </p:spPr>
        <p:txBody>
          <a:bodyPr/>
          <a:lstStyle/>
          <a:p>
            <a:endParaRPr lang="en-US"/>
          </a:p>
        </p:txBody>
      </p:sp>
      <p:pic>
        <p:nvPicPr>
          <p:cNvPr id="18" name="Image 3" descr="/sessions/blissful-awesome-feynman/build/icons/handshake.png"/>
          <p:cNvPicPr>
            <a:picLocks noChangeAspect="1"/>
          </p:cNvPicPr>
          <p:nvPr/>
        </p:nvPicPr>
        <p:blipFill>
          <a:blip r:embed="rId5"/>
          <a:stretch>
            <a:fillRect/>
          </a:stretch>
        </p:blipFill>
        <p:spPr>
          <a:xfrm>
            <a:off x="658002" y="4970922"/>
            <a:ext cx="201900" cy="201900"/>
          </a:xfrm>
          <a:prstGeom prst="rect">
            <a:avLst/>
          </a:prstGeom>
        </p:spPr>
      </p:pic>
      <p:sp>
        <p:nvSpPr>
          <p:cNvPr id="19" name="Text 13"/>
          <p:cNvSpPr/>
          <p:nvPr/>
        </p:nvSpPr>
        <p:spPr>
          <a:xfrm>
            <a:off x="1143000" y="4815840"/>
            <a:ext cx="5212080" cy="274320"/>
          </a:xfrm>
          <a:prstGeom prst="rect">
            <a:avLst/>
          </a:prstGeom>
          <a:noFill/>
          <a:ln/>
        </p:spPr>
        <p:txBody>
          <a:bodyPr wrap="square" lIns="0" tIns="0" rIns="0" bIns="0" rtlCol="0" anchor="ctr"/>
          <a:lstStyle/>
          <a:p>
            <a:pPr marL="0" indent="0">
              <a:buNone/>
            </a:pPr>
            <a:r>
              <a:rPr lang="en-US" sz="1400" b="1" dirty="0">
                <a:solidFill>
                  <a:srgbClr val="212121"/>
                </a:solidFill>
                <a:latin typeface="Calibri" pitchFamily="34" charset="0"/>
                <a:ea typeface="Calibri" pitchFamily="34" charset="-122"/>
                <a:cs typeface="Calibri" pitchFamily="34" charset="-120"/>
              </a:rPr>
              <a:t>We protect relationships</a:t>
            </a:r>
            <a:endParaRPr lang="en-US" sz="1400" dirty="0"/>
          </a:p>
        </p:txBody>
      </p:sp>
      <p:sp>
        <p:nvSpPr>
          <p:cNvPr id="20" name="Text 14"/>
          <p:cNvSpPr/>
          <p:nvPr/>
        </p:nvSpPr>
        <p:spPr>
          <a:xfrm>
            <a:off x="1143000" y="5090160"/>
            <a:ext cx="5212080" cy="502920"/>
          </a:xfrm>
          <a:prstGeom prst="rect">
            <a:avLst/>
          </a:prstGeom>
          <a:noFill/>
          <a:ln/>
        </p:spPr>
        <p:txBody>
          <a:bodyPr wrap="square" lIns="0" tIns="0" rIns="0" bIns="0" rtlCol="0" anchor="t"/>
          <a:lstStyle/>
          <a:p>
            <a:pPr marL="0" indent="0">
              <a:buNone/>
            </a:pPr>
            <a:r>
              <a:rPr lang="en-US" sz="1150" dirty="0">
                <a:solidFill>
                  <a:srgbClr val="5F5F5F"/>
                </a:solidFill>
                <a:latin typeface="Calibri" pitchFamily="34" charset="0"/>
                <a:ea typeface="Calibri" pitchFamily="34" charset="-122"/>
                <a:cs typeface="Calibri" pitchFamily="34" charset="-120"/>
              </a:rPr>
              <a:t>We work alongside the client’s CPA, insurance, and legal partners, and we keep those relationships strong.</a:t>
            </a:r>
            <a:endParaRPr lang="en-US" sz="1150" dirty="0"/>
          </a:p>
        </p:txBody>
      </p:sp>
      <p:sp>
        <p:nvSpPr>
          <p:cNvPr id="40" name="QB Eyebrow"/>
          <p:cNvSpPr/>
          <p:nvPr/>
        </p:nvSpPr>
        <p:spPr>
          <a:xfrm>
            <a:off x="6812280" y="1481328"/>
            <a:ext cx="4800600" cy="292608"/>
          </a:xfrm>
          <a:prstGeom prst="rect">
            <a:avLst/>
          </a:prstGeom>
          <a:noFill/>
          <a:ln/>
        </p:spPr>
        <p:txBody>
          <a:bodyPr wrap="square" lIns="0" tIns="0" rIns="0" bIns="0" rtlCol="0" anchor="ctr"/>
          <a:lstStyle/>
          <a:p>
            <a:pPr marL="0" indent="0" algn="ctr">
              <a:buNone/>
            </a:pPr>
            <a:r>
              <a:rPr lang="en-US" sz="1100" b="1" kern="0" spc="300" dirty="0">
                <a:solidFill>
                  <a:srgbClr val="8F7346"/>
                </a:solidFill>
                <a:latin typeface="Calibri" pitchFamily="34" charset="0"/>
                <a:ea typeface="Calibri" pitchFamily="34" charset="-122"/>
                <a:cs typeface="Calibri" pitchFamily="34" charset="-120"/>
              </a:rPr>
              <a:t>THE QUARTERBACK</a:t>
            </a:r>
            <a:endParaRPr lang="en-US" sz="1100" dirty="0"/>
          </a:p>
        </p:txBody>
      </p:sp>
      <p:cxnSp>
        <p:nvCxnSpPr>
          <p:cNvPr id="42" name="Flow Line 42"/>
          <p:cNvCxnSpPr/>
          <p:nvPr/>
        </p:nvCxnSpPr>
        <p:spPr>
          <a:xfrm flipV="1">
            <a:off x="10035540" y="2476500"/>
            <a:ext cx="297180" cy="891540"/>
          </a:xfrm>
          <a:prstGeom prst="line">
            <a:avLst/>
          </a:prstGeom>
          <a:ln w="15875">
            <a:solidFill>
              <a:srgbClr val="B08D57"/>
            </a:solidFill>
          </a:ln>
        </p:spPr>
      </p:cxnSp>
      <p:cxnSp>
        <p:nvCxnSpPr>
          <p:cNvPr id="43" name="Flow Line 43"/>
          <p:cNvCxnSpPr/>
          <p:nvPr/>
        </p:nvCxnSpPr>
        <p:spPr>
          <a:xfrm flipV="1">
            <a:off x="10035540" y="3070860"/>
            <a:ext cx="297180" cy="297180"/>
          </a:xfrm>
          <a:prstGeom prst="line">
            <a:avLst/>
          </a:prstGeom>
          <a:ln w="15875">
            <a:solidFill>
              <a:srgbClr val="B08D57"/>
            </a:solidFill>
          </a:ln>
        </p:spPr>
      </p:cxnSp>
      <p:cxnSp>
        <p:nvCxnSpPr>
          <p:cNvPr id="44" name="Flow Line 44"/>
          <p:cNvCxnSpPr/>
          <p:nvPr/>
        </p:nvCxnSpPr>
        <p:spPr>
          <a:xfrm>
            <a:off x="10035540" y="3368040"/>
            <a:ext cx="297180" cy="297180"/>
          </a:xfrm>
          <a:prstGeom prst="line">
            <a:avLst/>
          </a:prstGeom>
          <a:ln w="15875">
            <a:solidFill>
              <a:srgbClr val="B08D57"/>
            </a:solidFill>
          </a:ln>
        </p:spPr>
      </p:cxnSp>
      <p:cxnSp>
        <p:nvCxnSpPr>
          <p:cNvPr id="45" name="Flow Line 45"/>
          <p:cNvCxnSpPr/>
          <p:nvPr/>
        </p:nvCxnSpPr>
        <p:spPr>
          <a:xfrm>
            <a:off x="10035540" y="3368040"/>
            <a:ext cx="297180" cy="891540"/>
          </a:xfrm>
          <a:prstGeom prst="line">
            <a:avLst/>
          </a:prstGeom>
          <a:ln w="15875">
            <a:solidFill>
              <a:srgbClr val="B08D57"/>
            </a:solidFill>
          </a:ln>
        </p:spPr>
      </p:cxnSp>
      <p:sp>
        <p:nvSpPr>
          <p:cNvPr id="46" name="Flow Client"/>
          <p:cNvSpPr/>
          <p:nvPr/>
        </p:nvSpPr>
        <p:spPr>
          <a:xfrm>
            <a:off x="6812280" y="3139440"/>
            <a:ext cx="1371600" cy="457200"/>
          </a:xfrm>
          <a:prstGeom prst="roundRect">
            <a:avLst>
              <a:gd name="adj" fmla="val 12000"/>
            </a:avLst>
          </a:prstGeom>
          <a:solidFill>
            <a:srgbClr val="B08D57"/>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Your client</a:t>
            </a:r>
            <a:endParaRPr lang="en-US" sz="1150" dirty="0"/>
          </a:p>
        </p:txBody>
      </p:sp>
      <p:cxnSp>
        <p:nvCxnSpPr>
          <p:cNvPr id="41" name="Flow Line 41"/>
          <p:cNvCxnSpPr/>
          <p:nvPr/>
        </p:nvCxnSpPr>
        <p:spPr>
          <a:xfrm>
            <a:off x="8183880" y="3368040"/>
            <a:ext cx="205740" cy="0"/>
          </a:xfrm>
          <a:prstGeom prst="line">
            <a:avLst/>
          </a:prstGeom>
          <a:ln w="15875">
            <a:solidFill>
              <a:srgbClr val="B08D57"/>
            </a:solidFill>
          </a:ln>
        </p:spPr>
      </p:cxnSp>
      <p:sp>
        <p:nvSpPr>
          <p:cNvPr id="47" name="Liaison Pill"/>
          <p:cNvSpPr/>
          <p:nvPr/>
        </p:nvSpPr>
        <p:spPr>
          <a:xfrm>
            <a:off x="8389620" y="3185160"/>
            <a:ext cx="1737360" cy="365760"/>
          </a:xfrm>
          <a:prstGeom prst="roundRect">
            <a:avLst>
              <a:gd name="adj" fmla="val 50000"/>
            </a:avLst>
          </a:prstGeom>
          <a:solidFill>
            <a:srgbClr val="FFFFFF"/>
          </a:solidFill>
          <a:ln w="15875">
            <a:solidFill>
              <a:srgbClr val="B08D57"/>
            </a:solidFill>
          </a:ln>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000" b="1" kern="0" spc="200" dirty="0">
                <a:solidFill>
                  <a:srgbClr val="1A1A1A"/>
                </a:solidFill>
                <a:latin typeface="Cambria" pitchFamily="34" charset="0"/>
                <a:ea typeface="Cambria" pitchFamily="34" charset="-122"/>
                <a:cs typeface="Cambria" pitchFamily="34" charset="-120"/>
              </a:rPr>
              <a:t>ONYX</a:t>
            </a:r>
            <a:r>
              <a:rPr lang="en-US" sz="900" dirty="0">
                <a:solidFill>
                  <a:srgbClr val="5F5F5F"/>
                </a:solidFill>
                <a:latin typeface="Calibri" pitchFamily="34" charset="0"/>
                <a:ea typeface="Calibri" pitchFamily="34" charset="-122"/>
                <a:cs typeface="Calibri" pitchFamily="34" charset="-120"/>
              </a:rPr>
              <a:t>  ·  your quarterback</a:t>
            </a:r>
            <a:endParaRPr lang="en-US" sz="1150" dirty="0"/>
          </a:p>
        </p:txBody>
      </p:sp>
      <p:sp>
        <p:nvSpPr>
          <p:cNvPr id="48" name="Flow TrustBank"/>
          <p:cNvSpPr/>
          <p:nvPr/>
        </p:nvSpPr>
        <p:spPr>
          <a:xfrm>
            <a:off x="10332720" y="224790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TrustBank</a:t>
            </a:r>
            <a:endParaRPr lang="en-US" sz="1150" dirty="0"/>
          </a:p>
        </p:txBody>
      </p:sp>
      <p:sp>
        <p:nvSpPr>
          <p:cNvPr id="49" name="Flow CPA"/>
          <p:cNvSpPr/>
          <p:nvPr/>
        </p:nvSpPr>
        <p:spPr>
          <a:xfrm>
            <a:off x="10332720" y="284226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CPA firm</a:t>
            </a:r>
            <a:endParaRPr lang="en-US" sz="1150" dirty="0"/>
          </a:p>
        </p:txBody>
      </p:sp>
      <p:sp>
        <p:nvSpPr>
          <p:cNvPr id="50" name="Flow Insurance"/>
          <p:cNvSpPr/>
          <p:nvPr/>
        </p:nvSpPr>
        <p:spPr>
          <a:xfrm>
            <a:off x="10332720" y="343662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Insurance</a:t>
            </a:r>
            <a:endParaRPr lang="en-US" sz="1150" dirty="0"/>
          </a:p>
        </p:txBody>
      </p:sp>
      <p:sp>
        <p:nvSpPr>
          <p:cNvPr id="51" name="Flow Legal"/>
          <p:cNvSpPr/>
          <p:nvPr/>
        </p:nvSpPr>
        <p:spPr>
          <a:xfrm>
            <a:off x="10332720" y="4030980"/>
            <a:ext cx="1280160" cy="457200"/>
          </a:xfrm>
          <a:prstGeom prst="roundRect">
            <a:avLst>
              <a:gd name="adj" fmla="val 12000"/>
            </a:avLst>
          </a:prstGeom>
          <a:solidFill>
            <a:srgbClr val="F5F5F4"/>
          </a:solidFill>
          <a:effectLst>
            <a:outerShdw blurRad="88900" dist="25400" dir="5400000" algn="bl" rotWithShape="0">
              <a:srgbClr val="000000">
                <a:alpha val="13000"/>
              </a:srgbClr>
            </a:outerShdw>
          </a:effectLst>
        </p:spPr>
        <p:txBody>
          <a:bodyPr wrap="square" lIns="27432" tIns="0" rIns="27432" bIns="0" rtlCol="0" anchor="ctr"/>
          <a:lstStyle/>
          <a:p>
            <a:pPr marL="0" indent="0" algn="ctr">
              <a:buNone/>
            </a:pPr>
            <a:r>
              <a:rPr lang="en-US" sz="1150" b="1" dirty="0">
                <a:solidFill>
                  <a:srgbClr val="212121"/>
                </a:solidFill>
                <a:latin typeface="Calibri" pitchFamily="34" charset="0"/>
                <a:ea typeface="Calibri" pitchFamily="34" charset="-122"/>
                <a:cs typeface="Calibri" pitchFamily="34" charset="-120"/>
              </a:rPr>
              <a:t>Legal</a:t>
            </a:r>
            <a:endParaRPr lang="en-US" sz="1150" dirty="0"/>
          </a:p>
        </p:txBody>
      </p:sp>
      <p:sp>
        <p:nvSpPr>
          <p:cNvPr id="52" name="QB Goal"/>
          <p:cNvSpPr/>
          <p:nvPr/>
        </p:nvSpPr>
        <p:spPr>
          <a:xfrm>
            <a:off x="6812280" y="4716780"/>
            <a:ext cx="4800600" cy="685800"/>
          </a:xfrm>
          <a:prstGeom prst="rect">
            <a:avLst/>
          </a:prstGeom>
          <a:noFill/>
          <a:ln/>
        </p:spPr>
        <p:txBody>
          <a:bodyPr wrap="square" lIns="0" tIns="0" rIns="0" bIns="0" rtlCol="0" anchor="ctr"/>
          <a:lstStyle/>
          <a:p>
            <a:pPr marL="0" indent="0" algn="ctr">
              <a:buNone/>
            </a:pPr>
            <a:r>
              <a:rPr lang="en-US" sz="1150" i="1" dirty="0">
                <a:solidFill>
                  <a:srgbClr val="5F5F5F"/>
                </a:solidFill>
                <a:latin typeface="Calibri" pitchFamily="34" charset="0"/>
                <a:ea typeface="Calibri" pitchFamily="34" charset="-122"/>
                <a:cs typeface="Calibri" pitchFamily="34" charset="-120"/>
              </a:rPr>
              <a:t>Most clients already have the partners. The missing piece is the quarterback who connects them, so the client stays profitable and the bank gets repaid safely.</a:t>
            </a:r>
            <a:endParaRPr lang="en-US" sz="1150" dirty="0"/>
          </a:p>
        </p:txBody>
      </p:sp>
      <p:sp>
        <p:nvSpPr>
          <p:cNvPr id="39" name="Text 2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WHAT WE DO</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The right level of support, scaled to the client</a:t>
            </a:r>
            <a:endParaRPr lang="en-US" sz="3000" dirty="0"/>
          </a:p>
        </p:txBody>
      </p:sp>
      <p:sp>
        <p:nvSpPr>
          <p:cNvPr id="4" name="Shape 2"/>
          <p:cNvSpPr/>
          <p:nvPr/>
        </p:nvSpPr>
        <p:spPr>
          <a:xfrm>
            <a:off x="548640" y="3017520"/>
            <a:ext cx="3575304" cy="2743200"/>
          </a:xfrm>
          <a:prstGeom prst="roundRect">
            <a:avLst>
              <a:gd name="adj" fmla="val 2333"/>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5" name="Shape 3"/>
          <p:cNvSpPr/>
          <p:nvPr/>
        </p:nvSpPr>
        <p:spPr>
          <a:xfrm>
            <a:off x="804672" y="3236976"/>
            <a:ext cx="457200" cy="457200"/>
          </a:xfrm>
          <a:prstGeom prst="ellipse">
            <a:avLst/>
          </a:prstGeom>
          <a:solidFill>
            <a:srgbClr val="B08D57"/>
          </a:solidFill>
          <a:ln/>
        </p:spPr>
        <p:txBody>
          <a:bodyPr/>
          <a:lstStyle/>
          <a:p>
            <a:endParaRPr lang="en-US"/>
          </a:p>
        </p:txBody>
      </p:sp>
      <p:pic>
        <p:nvPicPr>
          <p:cNvPr id="6" name="Image 0" descr="/sessions/blissful-awesome-feynman/build/icons/user.png"/>
          <p:cNvPicPr>
            <a:picLocks noChangeAspect="1"/>
          </p:cNvPicPr>
          <p:nvPr/>
        </p:nvPicPr>
        <p:blipFill>
          <a:blip r:embed="rId3"/>
          <a:stretch>
            <a:fillRect/>
          </a:stretch>
        </p:blipFill>
        <p:spPr>
          <a:xfrm>
            <a:off x="923544" y="3355848"/>
            <a:ext cx="219456" cy="219456"/>
          </a:xfrm>
          <a:prstGeom prst="rect">
            <a:avLst/>
          </a:prstGeom>
        </p:spPr>
      </p:pic>
      <p:sp>
        <p:nvSpPr>
          <p:cNvPr id="7" name="Text 4"/>
          <p:cNvSpPr/>
          <p:nvPr/>
        </p:nvSpPr>
        <p:spPr>
          <a:xfrm>
            <a:off x="1417320" y="3200400"/>
            <a:ext cx="2606040" cy="27432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Staff Accountant</a:t>
            </a:r>
            <a:endParaRPr lang="en-US" sz="1500" dirty="0"/>
          </a:p>
        </p:txBody>
      </p:sp>
      <p:sp>
        <p:nvSpPr>
          <p:cNvPr id="8" name="Text 5"/>
          <p:cNvSpPr/>
          <p:nvPr/>
        </p:nvSpPr>
        <p:spPr>
          <a:xfrm>
            <a:off x="1417320" y="349300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TRANSACTIONAL · DAY-TO-DAY</a:t>
            </a:r>
            <a:endParaRPr lang="en-US" sz="1000" dirty="0"/>
          </a:p>
        </p:txBody>
      </p:sp>
      <p:sp>
        <p:nvSpPr>
          <p:cNvPr id="9" name="Text 6"/>
          <p:cNvSpPr/>
          <p:nvPr/>
        </p:nvSpPr>
        <p:spPr>
          <a:xfrm>
            <a:off x="841248" y="3931920"/>
            <a:ext cx="3017520" cy="164592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AP / AR &amp; billing</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Payroll support</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Clean, current books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Transaction feed entry &amp; review</a:t>
            </a:r>
            <a:endParaRPr lang="en-US" sz="1150" dirty="0"/>
          </a:p>
        </p:txBody>
      </p:sp>
      <p:sp>
        <p:nvSpPr>
          <p:cNvPr id="10" name="Shape 7"/>
          <p:cNvSpPr/>
          <p:nvPr/>
        </p:nvSpPr>
        <p:spPr>
          <a:xfrm>
            <a:off x="4489704" y="2514600"/>
            <a:ext cx="3575304" cy="3246120"/>
          </a:xfrm>
          <a:prstGeom prst="roundRect">
            <a:avLst>
              <a:gd name="adj" fmla="val 1972"/>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 name="Shape 8"/>
          <p:cNvSpPr/>
          <p:nvPr/>
        </p:nvSpPr>
        <p:spPr>
          <a:xfrm>
            <a:off x="4745736" y="2734056"/>
            <a:ext cx="457200" cy="457200"/>
          </a:xfrm>
          <a:prstGeom prst="ellipse">
            <a:avLst/>
          </a:prstGeom>
          <a:solidFill>
            <a:srgbClr val="B08D57"/>
          </a:solidFill>
          <a:ln/>
        </p:spPr>
        <p:txBody>
          <a:bodyPr/>
          <a:lstStyle/>
          <a:p>
            <a:endParaRPr lang="en-US"/>
          </a:p>
        </p:txBody>
      </p:sp>
      <p:pic>
        <p:nvPicPr>
          <p:cNvPr id="12" name="Image 1" descr="/sessions/blissful-awesome-feynman/build/icons/clipboard.png"/>
          <p:cNvPicPr>
            <a:picLocks noChangeAspect="1"/>
          </p:cNvPicPr>
          <p:nvPr/>
        </p:nvPicPr>
        <p:blipFill>
          <a:blip r:embed="rId4"/>
          <a:stretch>
            <a:fillRect/>
          </a:stretch>
        </p:blipFill>
        <p:spPr>
          <a:xfrm>
            <a:off x="4864608" y="2852928"/>
            <a:ext cx="219456" cy="219456"/>
          </a:xfrm>
          <a:prstGeom prst="rect">
            <a:avLst/>
          </a:prstGeom>
        </p:spPr>
      </p:pic>
      <p:sp>
        <p:nvSpPr>
          <p:cNvPr id="13" name="Text 9"/>
          <p:cNvSpPr/>
          <p:nvPr/>
        </p:nvSpPr>
        <p:spPr>
          <a:xfrm>
            <a:off x="5358384" y="2697480"/>
            <a:ext cx="2606040" cy="27432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Controller</a:t>
            </a:r>
            <a:endParaRPr lang="en-US" sz="1500" dirty="0"/>
          </a:p>
        </p:txBody>
      </p:sp>
      <p:sp>
        <p:nvSpPr>
          <p:cNvPr id="14" name="Text 10"/>
          <p:cNvSpPr/>
          <p:nvPr/>
        </p:nvSpPr>
        <p:spPr>
          <a:xfrm>
            <a:off x="5358384" y="299008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MONTH-END</a:t>
            </a:r>
            <a:endParaRPr lang="en-US" sz="1000" dirty="0"/>
          </a:p>
        </p:txBody>
      </p:sp>
      <p:sp>
        <p:nvSpPr>
          <p:cNvPr id="15" name="Text 11"/>
          <p:cNvSpPr/>
          <p:nvPr/>
        </p:nvSpPr>
        <p:spPr>
          <a:xfrm>
            <a:off x="4782312" y="3429000"/>
            <a:ext cx="3017520" cy="214884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More complex close &amp; reconciliations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Financial reporting</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BBC, covenant &amp; compliance packages</a:t>
            </a:r>
            <a:endParaRPr lang="en-US" sz="1150" dirty="0"/>
          </a:p>
          <a:p>
            <a:pPr marL="152400" indent="-152400">
              <a:spcAft>
                <a:spcPts val="800"/>
              </a:spcAft>
              <a:buSzPct val="100000"/>
              <a:buChar char="•"/>
            </a:pPr>
            <a:r>
              <a:rPr lang="en-US" sz="1150" dirty="0">
                <a:solidFill>
                  <a:srgbClr val="5F5F5F"/>
                </a:solidFill>
                <a:latin typeface="Calibri" pitchFamily="34" charset="0"/>
                <a:ea typeface="Calibri" pitchFamily="34" charset="-122"/>
                <a:cs typeface="Calibri" pitchFamily="34" charset="-120"/>
              </a:rPr>
              <a:t>Support schedules, incl. WIP</a:t>
            </a:r>
            <a:endParaRPr lang="en-US" sz="1150" dirty="0"/>
          </a:p>
        </p:txBody>
      </p:sp>
      <p:sp>
        <p:nvSpPr>
          <p:cNvPr id="16" name="Shape 12"/>
          <p:cNvSpPr/>
          <p:nvPr/>
        </p:nvSpPr>
        <p:spPr>
          <a:xfrm>
            <a:off x="8430768" y="2011680"/>
            <a:ext cx="3575304" cy="3749040"/>
          </a:xfrm>
          <a:prstGeom prst="roundRect">
            <a:avLst>
              <a:gd name="adj" fmla="val 1790"/>
            </a:avLst>
          </a:prstGeom>
          <a:solidFill>
            <a:srgbClr val="1A1A1A"/>
          </a:solidFill>
          <a:ln/>
          <a:effectLst>
            <a:outerShdw blurRad="88900" dist="25400" dir="5400000" algn="bl" rotWithShape="0">
              <a:srgbClr val="000000">
                <a:alpha val="13000"/>
              </a:srgbClr>
            </a:outerShdw>
          </a:effectLst>
        </p:spPr>
        <p:txBody>
          <a:bodyPr/>
          <a:lstStyle/>
          <a:p>
            <a:endParaRPr lang="en-US"/>
          </a:p>
        </p:txBody>
      </p:sp>
      <p:sp>
        <p:nvSpPr>
          <p:cNvPr id="17" name="Shape 13"/>
          <p:cNvSpPr/>
          <p:nvPr/>
        </p:nvSpPr>
        <p:spPr>
          <a:xfrm>
            <a:off x="8686800" y="2231136"/>
            <a:ext cx="457200" cy="457200"/>
          </a:xfrm>
          <a:prstGeom prst="ellipse">
            <a:avLst/>
          </a:prstGeom>
          <a:solidFill>
            <a:srgbClr val="B08D57"/>
          </a:solidFill>
          <a:ln/>
        </p:spPr>
        <p:txBody>
          <a:bodyPr/>
          <a:lstStyle/>
          <a:p>
            <a:endParaRPr lang="en-US"/>
          </a:p>
        </p:txBody>
      </p:sp>
      <p:pic>
        <p:nvPicPr>
          <p:cNvPr id="18" name="Image 2" descr="/sessions/blissful-awesome-feynman/build/icons/chessking.png"/>
          <p:cNvPicPr>
            <a:picLocks noChangeAspect="1"/>
          </p:cNvPicPr>
          <p:nvPr/>
        </p:nvPicPr>
        <p:blipFill>
          <a:blip r:embed="rId5"/>
          <a:stretch>
            <a:fillRect/>
          </a:stretch>
        </p:blipFill>
        <p:spPr>
          <a:xfrm>
            <a:off x="8805672" y="2350008"/>
            <a:ext cx="219456" cy="219456"/>
          </a:xfrm>
          <a:prstGeom prst="rect">
            <a:avLst/>
          </a:prstGeom>
        </p:spPr>
      </p:pic>
      <p:sp>
        <p:nvSpPr>
          <p:cNvPr id="19" name="Text 14"/>
          <p:cNvSpPr/>
          <p:nvPr/>
        </p:nvSpPr>
        <p:spPr>
          <a:xfrm>
            <a:off x="9299448" y="2194560"/>
            <a:ext cx="26060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CFO</a:t>
            </a:r>
            <a:endParaRPr lang="en-US" sz="1500" dirty="0"/>
          </a:p>
        </p:txBody>
      </p:sp>
      <p:sp>
        <p:nvSpPr>
          <p:cNvPr id="20" name="Text 15"/>
          <p:cNvSpPr/>
          <p:nvPr/>
        </p:nvSpPr>
        <p:spPr>
          <a:xfrm>
            <a:off x="9299448" y="2487168"/>
            <a:ext cx="2606040" cy="228600"/>
          </a:xfrm>
          <a:prstGeom prst="rect">
            <a:avLst/>
          </a:prstGeom>
          <a:noFill/>
          <a:ln/>
        </p:spPr>
        <p:txBody>
          <a:bodyPr wrap="square" lIns="0" tIns="0" rIns="0" bIns="0" rtlCol="0" anchor="ctr"/>
          <a:lstStyle/>
          <a:p>
            <a:pPr marL="0" indent="0">
              <a:buNone/>
            </a:pPr>
            <a:r>
              <a:rPr lang="en-US" sz="1000" b="1" kern="0" spc="200" dirty="0">
                <a:solidFill>
                  <a:srgbClr val="B08D57"/>
                </a:solidFill>
                <a:latin typeface="Calibri" pitchFamily="34" charset="0"/>
                <a:ea typeface="Calibri" pitchFamily="34" charset="-122"/>
                <a:cs typeface="Calibri" pitchFamily="34" charset="-120"/>
              </a:rPr>
              <a:t>STRATEGIC</a:t>
            </a:r>
            <a:endParaRPr lang="en-US" sz="1000" dirty="0"/>
          </a:p>
        </p:txBody>
      </p:sp>
      <p:sp>
        <p:nvSpPr>
          <p:cNvPr id="21" name="Text 16"/>
          <p:cNvSpPr/>
          <p:nvPr/>
        </p:nvSpPr>
        <p:spPr>
          <a:xfrm>
            <a:off x="8723376" y="2926080"/>
            <a:ext cx="3017520" cy="265176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Budgets, forecasts &amp; cash-flow planning</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Board participation &amp; KPIs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Margin &amp; pricing analysis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Financing, treasury &amp; credit requests</a:t>
            </a:r>
            <a:endParaRPr lang="en-US" sz="1150" dirty="0"/>
          </a:p>
          <a:p>
            <a:pPr marL="152400" indent="-152400">
              <a:spcAft>
                <a:spcPts val="800"/>
              </a:spcAft>
              <a:buSzPct val="100000"/>
              <a:buChar char="•"/>
            </a:pPr>
            <a:r>
              <a:rPr lang="en-US" sz="1150" dirty="0">
                <a:solidFill>
                  <a:srgbClr val="C9C9C9"/>
                </a:solidFill>
                <a:latin typeface="Calibri" pitchFamily="34" charset="0"/>
                <a:ea typeface="Calibri" pitchFamily="34" charset="-122"/>
                <a:cs typeface="Calibri" pitchFamily="34" charset="-120"/>
              </a:rPr>
              <a:t>M&amp;A, succession &amp; system selection</a:t>
            </a:r>
            <a:endParaRPr lang="en-US" sz="1150"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Most clients blend all three: one firm, scaled to the need and the budget. That range is what separates us from a bookkeeping shop or fractional firm.</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WHO WE SERVE</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Built for owner-led businesses</a:t>
            </a:r>
            <a:endParaRPr lang="en-US" sz="3000" dirty="0"/>
          </a:p>
          <a:p>
            <a:pPr marL="0" indent="0">
              <a:buNone/>
            </a:pPr>
            <a:r>
              <a:rPr lang="en-US" sz="1600" b="1" dirty="0">
                <a:solidFill>
                  <a:srgbClr val="212121"/>
                </a:solidFill>
                <a:latin typeface="Cambria" pitchFamily="34" charset="0"/>
                <a:ea typeface="Cambria" pitchFamily="34" charset="-122"/>
                <a:cs typeface="Cambria" pitchFamily="34" charset="-120"/>
              </a:rPr>
              <a:t>Startups through multi-state operations</a:t>
            </a:r>
            <a:endParaRPr lang="en-US" sz="1600" dirty="0"/>
          </a:p>
        </p:txBody>
      </p:sp>
      <p:sp>
        <p:nvSpPr>
          <p:cNvPr id="102" name="Serve Card 0"/>
          <p:cNvSpPr/>
          <p:nvPr/>
        </p:nvSpPr>
        <p:spPr>
          <a:xfrm>
            <a:off x="548640"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3" name="Serve Circle 0"/>
          <p:cNvSpPr/>
          <p:nvPr/>
        </p:nvSpPr>
        <p:spPr>
          <a:xfrm>
            <a:off x="804672" y="1993392"/>
            <a:ext cx="457200" cy="457200"/>
          </a:xfrm>
          <a:prstGeom prst="ellipse">
            <a:avLst/>
          </a:prstGeom>
          <a:solidFill>
            <a:srgbClr val="B08D57"/>
          </a:solidFill>
          <a:ln/>
        </p:spPr>
        <p:txBody>
          <a:bodyPr/>
          <a:lstStyle/>
          <a:p>
            <a:endParaRPr lang="en-US"/>
          </a:p>
        </p:txBody>
      </p:sp>
      <p:pic>
        <p:nvPicPr>
          <p:cNvPr id="104" name="Serve Icon 0"/>
          <p:cNvPicPr>
            <a:picLocks noChangeAspect="1"/>
          </p:cNvPicPr>
          <p:nvPr/>
        </p:nvPicPr>
        <p:blipFill>
          <a:blip r:embed="rId3"/>
          <a:stretch>
            <a:fillRect/>
          </a:stretch>
        </p:blipFill>
        <p:spPr>
          <a:xfrm>
            <a:off x="923544" y="2112264"/>
            <a:ext cx="219456" cy="219456"/>
          </a:xfrm>
          <a:prstGeom prst="rect">
            <a:avLst/>
          </a:prstGeom>
        </p:spPr>
      </p:pic>
      <p:sp>
        <p:nvSpPr>
          <p:cNvPr id="105" name="Serve Head 0"/>
          <p:cNvSpPr/>
          <p:nvPr/>
        </p:nvSpPr>
        <p:spPr>
          <a:xfrm>
            <a:off x="804672"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The books need handling</a:t>
            </a:r>
            <a:endParaRPr lang="en-US" sz="1250" dirty="0"/>
          </a:p>
        </p:txBody>
      </p:sp>
      <p:sp>
        <p:nvSpPr>
          <p:cNvPr id="106" name="Serve Desc 0"/>
          <p:cNvSpPr/>
          <p:nvPr/>
        </p:nvSpPr>
        <p:spPr>
          <a:xfrm>
            <a:off x="804672"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Dependable bookkeeping and a monthly close that actually happens every month, without the owner chasing it.</a:t>
            </a:r>
            <a:endParaRPr lang="en-US" sz="1100" dirty="0"/>
          </a:p>
        </p:txBody>
      </p:sp>
      <p:sp>
        <p:nvSpPr>
          <p:cNvPr id="107" name="Serve Card 1"/>
          <p:cNvSpPr/>
          <p:nvPr/>
        </p:nvSpPr>
        <p:spPr>
          <a:xfrm>
            <a:off x="4489704"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8" name="Serve Circle 1"/>
          <p:cNvSpPr/>
          <p:nvPr/>
        </p:nvSpPr>
        <p:spPr>
          <a:xfrm>
            <a:off x="4745736" y="1993392"/>
            <a:ext cx="457200" cy="457200"/>
          </a:xfrm>
          <a:prstGeom prst="ellipse">
            <a:avLst/>
          </a:prstGeom>
          <a:solidFill>
            <a:srgbClr val="B08D57"/>
          </a:solidFill>
          <a:ln/>
        </p:spPr>
        <p:txBody>
          <a:bodyPr/>
          <a:lstStyle/>
          <a:p>
            <a:endParaRPr lang="en-US"/>
          </a:p>
        </p:txBody>
      </p:sp>
      <p:pic>
        <p:nvPicPr>
          <p:cNvPr id="109" name="Serve Icon 1"/>
          <p:cNvPicPr>
            <a:picLocks noChangeAspect="1"/>
          </p:cNvPicPr>
          <p:nvPr/>
        </p:nvPicPr>
        <p:blipFill>
          <a:blip r:embed="rId4"/>
          <a:stretch>
            <a:fillRect/>
          </a:stretch>
        </p:blipFill>
        <p:spPr>
          <a:xfrm>
            <a:off x="4864608" y="2112264"/>
            <a:ext cx="219456" cy="219456"/>
          </a:xfrm>
          <a:prstGeom prst="rect">
            <a:avLst/>
          </a:prstGeom>
        </p:spPr>
      </p:pic>
      <p:sp>
        <p:nvSpPr>
          <p:cNvPr id="110" name="Serve Head 1"/>
          <p:cNvSpPr/>
          <p:nvPr/>
        </p:nvSpPr>
        <p:spPr>
          <a:xfrm>
            <a:off x="4745736"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Reporting can’t keep up</a:t>
            </a:r>
            <a:endParaRPr lang="en-US" sz="1250" dirty="0"/>
          </a:p>
        </p:txBody>
      </p:sp>
      <p:sp>
        <p:nvSpPr>
          <p:cNvPr id="111" name="Serve Desc 1"/>
          <p:cNvSpPr/>
          <p:nvPr/>
        </p:nvSpPr>
        <p:spPr>
          <a:xfrm>
            <a:off x="4745736"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Growth has outrun the setup: statements run late, schedules are missing, and decisions wait on the numbers.</a:t>
            </a:r>
            <a:endParaRPr lang="en-US" sz="1100" dirty="0"/>
          </a:p>
        </p:txBody>
      </p:sp>
      <p:sp>
        <p:nvSpPr>
          <p:cNvPr id="112" name="Serve Card 2"/>
          <p:cNvSpPr/>
          <p:nvPr/>
        </p:nvSpPr>
        <p:spPr>
          <a:xfrm>
            <a:off x="8430768" y="1737360"/>
            <a:ext cx="3575304" cy="256032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3" name="Serve Circle 2"/>
          <p:cNvSpPr/>
          <p:nvPr/>
        </p:nvSpPr>
        <p:spPr>
          <a:xfrm>
            <a:off x="8686800" y="1993392"/>
            <a:ext cx="457200" cy="457200"/>
          </a:xfrm>
          <a:prstGeom prst="ellipse">
            <a:avLst/>
          </a:prstGeom>
          <a:solidFill>
            <a:srgbClr val="B08D57"/>
          </a:solidFill>
          <a:ln/>
        </p:spPr>
        <p:txBody>
          <a:bodyPr/>
          <a:lstStyle/>
          <a:p>
            <a:endParaRPr lang="en-US"/>
          </a:p>
        </p:txBody>
      </p:sp>
      <p:pic>
        <p:nvPicPr>
          <p:cNvPr id="114" name="Serve Icon 2"/>
          <p:cNvPicPr>
            <a:picLocks noChangeAspect="1"/>
          </p:cNvPicPr>
          <p:nvPr/>
        </p:nvPicPr>
        <p:blipFill>
          <a:blip r:embed="rId5"/>
          <a:stretch>
            <a:fillRect/>
          </a:stretch>
        </p:blipFill>
        <p:spPr>
          <a:xfrm>
            <a:off x="8805672" y="2112264"/>
            <a:ext cx="219456" cy="219456"/>
          </a:xfrm>
          <a:prstGeom prst="rect">
            <a:avLst/>
          </a:prstGeom>
        </p:spPr>
      </p:pic>
      <p:sp>
        <p:nvSpPr>
          <p:cNvPr id="115" name="Serve Head 2"/>
          <p:cNvSpPr/>
          <p:nvPr/>
        </p:nvSpPr>
        <p:spPr>
          <a:xfrm>
            <a:off x="8686800" y="263347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The owner wants a partner</a:t>
            </a:r>
            <a:endParaRPr lang="en-US" sz="1250" dirty="0"/>
          </a:p>
        </p:txBody>
      </p:sp>
      <p:sp>
        <p:nvSpPr>
          <p:cNvPr id="116" name="Serve Desc 2"/>
          <p:cNvSpPr/>
          <p:nvPr/>
        </p:nvSpPr>
        <p:spPr>
          <a:xfrm>
            <a:off x="8686800" y="3291840"/>
            <a:ext cx="3063240" cy="91440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CFO-level reporting and a partner in the numbers, so the owner never has to negotiate the business alone.</a:t>
            </a:r>
            <a:endParaRPr lang="en-US" sz="1100" dirty="0"/>
          </a:p>
        </p:txBody>
      </p:sp>
      <p:sp>
        <p:nvSpPr>
          <p:cNvPr id="306" name="Industry Label"/>
          <p:cNvSpPr/>
          <p:nvPr/>
        </p:nvSpPr>
        <p:spPr>
          <a:xfrm>
            <a:off x="548640" y="4480560"/>
            <a:ext cx="11064240" cy="219456"/>
          </a:xfrm>
          <a:prstGeom prst="rect">
            <a:avLst/>
          </a:prstGeom>
          <a:noFill/>
          <a:ln/>
        </p:spPr>
        <p:txBody>
          <a:bodyPr wrap="square" lIns="0" tIns="0" rIns="0" bIns="0" rtlCol="0" anchor="t"/>
          <a:lstStyle/>
          <a:p>
            <a:pPr marL="0" indent="0" algn="l">
              <a:lnSpc>
                <a:spcPct val="112000"/>
              </a:lnSpc>
              <a:buNone/>
            </a:pPr>
            <a:r>
              <a:rPr lang="en-US" sz="1000" b="1" kern="0" spc="300" dirty="0">
                <a:solidFill>
                  <a:srgbClr val="B08D57"/>
                </a:solidFill>
                <a:latin typeface="Calibri" pitchFamily="34" charset="0"/>
                <a:ea typeface="Calibri" pitchFamily="34" charset="-122"/>
                <a:cs typeface="Calibri" pitchFamily="34" charset="-120"/>
              </a:rPr>
              <a:t>INDUSTRY DEPTH</a:t>
            </a:r>
            <a:endParaRPr lang="en-US" dirty="0"/>
          </a:p>
        </p:txBody>
      </p:sp>
      <p:sp>
        <p:nvSpPr>
          <p:cNvPr id="413" name="Industry Card 0"/>
          <p:cNvSpPr/>
          <p:nvPr/>
        </p:nvSpPr>
        <p:spPr>
          <a:xfrm>
            <a:off x="54864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4" name="Industry Text 0"/>
          <p:cNvSpPr/>
          <p:nvPr/>
        </p:nvSpPr>
        <p:spPr>
          <a:xfrm>
            <a:off x="64008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Construction</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WIP schedules &amp; job costing</a:t>
            </a:r>
            <a:endParaRPr lang="en-US" dirty="0"/>
          </a:p>
        </p:txBody>
      </p:sp>
      <p:sp>
        <p:nvSpPr>
          <p:cNvPr id="415" name="Industry Card 1"/>
          <p:cNvSpPr/>
          <p:nvPr/>
        </p:nvSpPr>
        <p:spPr>
          <a:xfrm>
            <a:off x="278892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6" name="Industry Text 1"/>
          <p:cNvSpPr/>
          <p:nvPr/>
        </p:nvSpPr>
        <p:spPr>
          <a:xfrm>
            <a:off x="288036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Real estate</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lender-ready reporting</a:t>
            </a:r>
            <a:endParaRPr lang="en-US" dirty="0"/>
          </a:p>
        </p:txBody>
      </p:sp>
      <p:sp>
        <p:nvSpPr>
          <p:cNvPr id="417" name="Industry Card 2"/>
          <p:cNvSpPr/>
          <p:nvPr/>
        </p:nvSpPr>
        <p:spPr>
          <a:xfrm>
            <a:off x="502920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18" name="Industry Text 2"/>
          <p:cNvSpPr/>
          <p:nvPr/>
        </p:nvSpPr>
        <p:spPr>
          <a:xfrm>
            <a:off x="512064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Property management</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clean monthly closes</a:t>
            </a:r>
            <a:endParaRPr lang="en-US" dirty="0"/>
          </a:p>
        </p:txBody>
      </p:sp>
      <p:sp>
        <p:nvSpPr>
          <p:cNvPr id="419" name="Industry Card 3"/>
          <p:cNvSpPr/>
          <p:nvPr/>
        </p:nvSpPr>
        <p:spPr>
          <a:xfrm>
            <a:off x="726948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20" name="Industry Text 3"/>
          <p:cNvSpPr/>
          <p:nvPr/>
        </p:nvSpPr>
        <p:spPr>
          <a:xfrm>
            <a:off x="736092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Professional services</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CFO-level reporting</a:t>
            </a:r>
            <a:endParaRPr lang="en-US" dirty="0"/>
          </a:p>
        </p:txBody>
      </p:sp>
      <p:sp>
        <p:nvSpPr>
          <p:cNvPr id="421" name="Industry Card 4"/>
          <p:cNvSpPr/>
          <p:nvPr/>
        </p:nvSpPr>
        <p:spPr>
          <a:xfrm>
            <a:off x="9509760" y="4754880"/>
            <a:ext cx="210312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422" name="Industry Text 4"/>
          <p:cNvSpPr/>
          <p:nvPr/>
        </p:nvSpPr>
        <p:spPr>
          <a:xfrm>
            <a:off x="9601200" y="4754880"/>
            <a:ext cx="1920240" cy="822960"/>
          </a:xfrm>
          <a:prstGeom prst="rect">
            <a:avLst/>
          </a:prstGeom>
          <a:noFill/>
          <a:ln/>
        </p:spPr>
        <p:txBody>
          <a:bodyPr wrap="square" lIns="0" tIns="0" rIns="0" bIns="0" rtlCol="0" anchor="ctr"/>
          <a:lstStyle/>
          <a:p>
            <a:pPr marL="0" indent="0" algn="ctr">
              <a:lnSpc>
                <a:spcPct val="112000"/>
              </a:lnSpc>
              <a:buNone/>
            </a:pPr>
            <a:r>
              <a:rPr lang="en-US" sz="1150" b="1" dirty="0">
                <a:solidFill>
                  <a:srgbClr val="212121"/>
                </a:solidFill>
                <a:latin typeface="Calibri" pitchFamily="34" charset="0"/>
                <a:ea typeface="Calibri" pitchFamily="34" charset="-122"/>
                <a:cs typeface="Calibri" pitchFamily="34" charset="-120"/>
              </a:rPr>
              <a:t>Distribution &amp; retail</a:t>
            </a:r>
            <a:endParaRPr lang="en-US" dirty="0"/>
          </a:p>
          <a:p>
            <a:pPr marL="0" indent="0" algn="ctr">
              <a:lnSpc>
                <a:spcPct val="112000"/>
              </a:lnSpc>
              <a:spcBef>
                <a:spcPts val="400"/>
              </a:spcBef>
              <a:buNone/>
            </a:pPr>
            <a:r>
              <a:rPr lang="en-US" sz="950" dirty="0">
                <a:solidFill>
                  <a:srgbClr val="5F5F5F"/>
                </a:solidFill>
                <a:latin typeface="Calibri" pitchFamily="34" charset="0"/>
                <a:ea typeface="Calibri" pitchFamily="34" charset="-122"/>
                <a:cs typeface="Calibri" pitchFamily="34" charset="-120"/>
              </a:rPr>
              <a:t>bank-ready books</a:t>
            </a:r>
            <a:endParaRPr lang="en-US"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From first call to strategic partner</a:t>
            </a:r>
            <a:endParaRPr lang="en-US" sz="3000" dirty="0"/>
          </a:p>
        </p:txBody>
      </p:sp>
      <p:sp>
        <p:nvSpPr>
          <p:cNvPr id="308" name="Phase Pre"/>
          <p:cNvSpPr/>
          <p:nvPr/>
        </p:nvSpPr>
        <p:spPr>
          <a:xfrm>
            <a:off x="1383792" y="1874520"/>
            <a:ext cx="4098950" cy="219456"/>
          </a:xfrm>
          <a:prstGeom prst="rect">
            <a:avLst/>
          </a:prstGeom>
          <a:noFill/>
          <a:ln/>
        </p:spPr>
        <p:txBody>
          <a:bodyPr wrap="square" lIns="0" tIns="0" rIns="0" bIns="0" rtlCol="0" anchor="t"/>
          <a:lstStyle/>
          <a:p>
            <a:pPr marL="0" indent="0" algn="ctr">
              <a:lnSpc>
                <a:spcPct val="112000"/>
              </a:lnSpc>
              <a:buNone/>
            </a:pPr>
            <a:r>
              <a:rPr lang="en-US" sz="1000" b="1" kern="0" spc="300" dirty="0">
                <a:solidFill>
                  <a:srgbClr val="9E9E9E"/>
                </a:solidFill>
                <a:latin typeface="Calibri" pitchFamily="34" charset="0"/>
                <a:ea typeface="Calibri" pitchFamily="34" charset="-122"/>
                <a:cs typeface="Calibri" pitchFamily="34" charset="-120"/>
              </a:rPr>
              <a:t>PRE-ENGAGEMENT</a:t>
            </a:r>
            <a:endParaRPr lang="en-US" dirty="0"/>
          </a:p>
        </p:txBody>
      </p:sp>
      <p:sp>
        <p:nvSpPr>
          <p:cNvPr id="309" name="Phase Work"/>
          <p:cNvSpPr/>
          <p:nvPr/>
        </p:nvSpPr>
        <p:spPr>
          <a:xfrm>
            <a:off x="6709258" y="1874520"/>
            <a:ext cx="4098950" cy="219456"/>
          </a:xfrm>
          <a:prstGeom prst="rect">
            <a:avLst/>
          </a:prstGeom>
          <a:noFill/>
          <a:ln/>
        </p:spPr>
        <p:txBody>
          <a:bodyPr wrap="square" lIns="0" tIns="0" rIns="0" bIns="0" rtlCol="0" anchor="t"/>
          <a:lstStyle/>
          <a:p>
            <a:pPr marL="0" indent="0" algn="ctr">
              <a:lnSpc>
                <a:spcPct val="112000"/>
              </a:lnSpc>
              <a:buNone/>
            </a:pPr>
            <a:r>
              <a:rPr lang="en-US" sz="1000" b="1" kern="0" spc="300" dirty="0">
                <a:solidFill>
                  <a:srgbClr val="B08D57"/>
                </a:solidFill>
                <a:latin typeface="Calibri" pitchFamily="34" charset="0"/>
                <a:ea typeface="Calibri" pitchFamily="34" charset="-122"/>
                <a:cs typeface="Calibri" pitchFamily="34" charset="-120"/>
              </a:rPr>
              <a:t>WORK PHASE</a:t>
            </a:r>
            <a:endParaRPr lang="en-US" dirty="0"/>
          </a:p>
        </p:txBody>
      </p:sp>
      <p:cxnSp>
        <p:nvCxnSpPr>
          <p:cNvPr id="310" name="Timeline Seg 0"/>
          <p:cNvCxnSpPr/>
          <p:nvPr/>
        </p:nvCxnSpPr>
        <p:spPr>
          <a:xfrm>
            <a:off x="1658112" y="3291840"/>
            <a:ext cx="1775155" cy="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1" name="Timeline Seg 1"/>
          <p:cNvCxnSpPr/>
          <p:nvPr/>
        </p:nvCxnSpPr>
        <p:spPr>
          <a:xfrm>
            <a:off x="3433267" y="3291840"/>
            <a:ext cx="1775155" cy="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2" name="Timeline Seg 2"/>
          <p:cNvCxnSpPr/>
          <p:nvPr/>
        </p:nvCxnSpPr>
        <p:spPr>
          <a:xfrm flipV="1">
            <a:off x="5208422" y="3017520"/>
            <a:ext cx="1775156"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3" name="Timeline Seg 3"/>
          <p:cNvCxnSpPr/>
          <p:nvPr/>
        </p:nvCxnSpPr>
        <p:spPr>
          <a:xfrm flipV="1">
            <a:off x="6983578" y="2743200"/>
            <a:ext cx="1775155"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cxnSp>
        <p:nvCxnSpPr>
          <p:cNvPr id="314" name="Timeline Seg 4"/>
          <p:cNvCxnSpPr/>
          <p:nvPr/>
        </p:nvCxnSpPr>
        <p:spPr>
          <a:xfrm flipV="1">
            <a:off x="8758733" y="2468880"/>
            <a:ext cx="1775155" cy="274320"/>
          </a:xfrm>
          <a:prstGeom prst="line">
            <a:avLst/>
          </a:prstGeom>
          <a:ln w="15875">
            <a:solidFill>
              <a:srgbClr val="B08D57"/>
            </a:solidFill>
          </a:ln>
        </p:spPr>
        <p:style>
          <a:lnRef idx="1">
            <a:schemeClr val="accent1"/>
          </a:lnRef>
          <a:fillRef idx="0">
            <a:schemeClr val="accent1"/>
          </a:fillRef>
          <a:effectRef idx="0">
            <a:schemeClr val="accent1"/>
          </a:effectRef>
          <a:fontRef idx="minor">
            <a:schemeClr val="tx1"/>
          </a:fontRef>
        </p:style>
      </p:cxnSp>
      <p:sp>
        <p:nvSpPr>
          <p:cNvPr id="315" name="Step Circle 0"/>
          <p:cNvSpPr/>
          <p:nvPr/>
        </p:nvSpPr>
        <p:spPr>
          <a:xfrm>
            <a:off x="1383792"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01</a:t>
            </a:r>
            <a:endParaRPr lang="en-US" dirty="0"/>
          </a:p>
        </p:txBody>
      </p:sp>
      <p:sp>
        <p:nvSpPr>
          <p:cNvPr id="316" name="Step Head 0"/>
          <p:cNvSpPr/>
          <p:nvPr/>
        </p:nvSpPr>
        <p:spPr>
          <a:xfrm>
            <a:off x="804672"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Free consultation</a:t>
            </a:r>
            <a:endParaRPr lang="en-US" dirty="0"/>
          </a:p>
        </p:txBody>
      </p:sp>
      <p:sp>
        <p:nvSpPr>
          <p:cNvPr id="317" name="Step Desc 0"/>
          <p:cNvSpPr/>
          <p:nvPr/>
        </p:nvSpPr>
        <p:spPr>
          <a:xfrm>
            <a:off x="804672"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Every engagement starts with a conversation, on us.</a:t>
            </a:r>
            <a:endParaRPr lang="en-US" dirty="0"/>
          </a:p>
        </p:txBody>
      </p:sp>
      <p:sp>
        <p:nvSpPr>
          <p:cNvPr id="318" name="Step Circle 1"/>
          <p:cNvSpPr/>
          <p:nvPr/>
        </p:nvSpPr>
        <p:spPr>
          <a:xfrm>
            <a:off x="3158947"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02</a:t>
            </a:r>
            <a:endParaRPr lang="en-US" dirty="0"/>
          </a:p>
        </p:txBody>
      </p:sp>
      <p:sp>
        <p:nvSpPr>
          <p:cNvPr id="319" name="Step Head 1"/>
          <p:cNvSpPr/>
          <p:nvPr/>
        </p:nvSpPr>
        <p:spPr>
          <a:xfrm>
            <a:off x="2579827"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Needs assessment</a:t>
            </a:r>
            <a:endParaRPr lang="en-US" dirty="0"/>
          </a:p>
        </p:txBody>
      </p:sp>
      <p:sp>
        <p:nvSpPr>
          <p:cNvPr id="320" name="Step Desc 1"/>
          <p:cNvSpPr/>
          <p:nvPr/>
        </p:nvSpPr>
        <p:spPr>
          <a:xfrm>
            <a:off x="2579827"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We listen, then document the needs and requests in writing.</a:t>
            </a:r>
            <a:endParaRPr lang="en-US" dirty="0"/>
          </a:p>
        </p:txBody>
      </p:sp>
      <p:sp>
        <p:nvSpPr>
          <p:cNvPr id="321" name="Step Circle 2"/>
          <p:cNvSpPr/>
          <p:nvPr/>
        </p:nvSpPr>
        <p:spPr>
          <a:xfrm>
            <a:off x="4934102" y="301752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03</a:t>
            </a:r>
            <a:endParaRPr lang="en-US" dirty="0"/>
          </a:p>
        </p:txBody>
      </p:sp>
      <p:sp>
        <p:nvSpPr>
          <p:cNvPr id="322" name="Step Head 2"/>
          <p:cNvSpPr/>
          <p:nvPr/>
        </p:nvSpPr>
        <p:spPr>
          <a:xfrm>
            <a:off x="4354982"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Custom engagement</a:t>
            </a:r>
            <a:endParaRPr lang="en-US" dirty="0"/>
          </a:p>
        </p:txBody>
      </p:sp>
      <p:sp>
        <p:nvSpPr>
          <p:cNvPr id="323" name="Step Desc 2"/>
          <p:cNvSpPr/>
          <p:nvPr/>
        </p:nvSpPr>
        <p:spPr>
          <a:xfrm>
            <a:off x="4354982"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A scoped monthly package built around the business.</a:t>
            </a:r>
            <a:endParaRPr lang="en-US" dirty="0"/>
          </a:p>
        </p:txBody>
      </p:sp>
      <p:sp>
        <p:nvSpPr>
          <p:cNvPr id="324" name="Step Circle 3"/>
          <p:cNvSpPr/>
          <p:nvPr/>
        </p:nvSpPr>
        <p:spPr>
          <a:xfrm>
            <a:off x="6709258" y="274320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04</a:t>
            </a:r>
            <a:endParaRPr lang="en-US" dirty="0"/>
          </a:p>
        </p:txBody>
      </p:sp>
      <p:sp>
        <p:nvSpPr>
          <p:cNvPr id="325" name="Step Head 3"/>
          <p:cNvSpPr/>
          <p:nvPr/>
        </p:nvSpPr>
        <p:spPr>
          <a:xfrm>
            <a:off x="6130138"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Catch-up &amp; cleanup</a:t>
            </a:r>
            <a:endParaRPr lang="en-US" dirty="0"/>
          </a:p>
        </p:txBody>
      </p:sp>
      <p:sp>
        <p:nvSpPr>
          <p:cNvPr id="326" name="Step Desc 3"/>
          <p:cNvSpPr/>
          <p:nvPr/>
        </p:nvSpPr>
        <p:spPr>
          <a:xfrm>
            <a:off x="6130138"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Usually weeks to a few months to get the books current.</a:t>
            </a:r>
            <a:endParaRPr lang="en-US" dirty="0"/>
          </a:p>
        </p:txBody>
      </p:sp>
      <p:sp>
        <p:nvSpPr>
          <p:cNvPr id="327" name="Step Circle 4"/>
          <p:cNvSpPr/>
          <p:nvPr/>
        </p:nvSpPr>
        <p:spPr>
          <a:xfrm>
            <a:off x="8484413" y="246888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05</a:t>
            </a:r>
            <a:endParaRPr lang="en-US" dirty="0"/>
          </a:p>
        </p:txBody>
      </p:sp>
      <p:sp>
        <p:nvSpPr>
          <p:cNvPr id="328" name="Step Head 4"/>
          <p:cNvSpPr/>
          <p:nvPr/>
        </p:nvSpPr>
        <p:spPr>
          <a:xfrm>
            <a:off x="7905293"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Reporting rhythm</a:t>
            </a:r>
            <a:endParaRPr lang="en-US" dirty="0"/>
          </a:p>
        </p:txBody>
      </p:sp>
      <p:sp>
        <p:nvSpPr>
          <p:cNvPr id="329" name="Step Desc 4"/>
          <p:cNvSpPr/>
          <p:nvPr/>
        </p:nvSpPr>
        <p:spPr>
          <a:xfrm>
            <a:off x="7905293"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Routine reporting and management, on a dependable calendar.</a:t>
            </a:r>
            <a:endParaRPr lang="en-US" dirty="0"/>
          </a:p>
        </p:txBody>
      </p:sp>
      <p:sp>
        <p:nvSpPr>
          <p:cNvPr id="330" name="Step Circle 5"/>
          <p:cNvSpPr/>
          <p:nvPr/>
        </p:nvSpPr>
        <p:spPr>
          <a:xfrm>
            <a:off x="10259568" y="2194560"/>
            <a:ext cx="548640" cy="548640"/>
          </a:xfrm>
          <a:prstGeom prst="ellipse">
            <a:avLst/>
          </a:prstGeom>
          <a:solidFill>
            <a:srgbClr val="B08D57"/>
          </a:solidFill>
          <a:effectLst>
            <a:outerShdw blurRad="88900" dist="25400" dir="5400000" algn="bl" rotWithShape="0">
              <a:srgbClr val="000000">
                <a:alpha val="13000"/>
              </a:srgbClr>
            </a:outerShdw>
          </a:effectLst>
        </p:spPr>
        <p:txBody>
          <a:bodyPr wrap="square" lIns="0" tIns="0" rIns="0" bIns="0" rtlCol="0" anchor="ctr"/>
          <a:lstStyle/>
          <a:p>
            <a:pPr marL="0" indent="0" algn="ctr">
              <a:buNone/>
            </a:pPr>
            <a:r>
              <a:rPr lang="en-US" sz="1500" b="1" kern="0" spc="100" dirty="0">
                <a:solidFill>
                  <a:srgbClr val="FFFFFF"/>
                </a:solidFill>
                <a:latin typeface="Calibri" pitchFamily="34" charset="0"/>
                <a:ea typeface="Calibri" pitchFamily="34" charset="-122"/>
                <a:cs typeface="Calibri" pitchFamily="34" charset="-120"/>
              </a:rPr>
              <a:t>06</a:t>
            </a:r>
            <a:endParaRPr lang="en-US" dirty="0"/>
          </a:p>
        </p:txBody>
      </p:sp>
      <p:sp>
        <p:nvSpPr>
          <p:cNvPr id="331" name="Step Head 5"/>
          <p:cNvSpPr/>
          <p:nvPr/>
        </p:nvSpPr>
        <p:spPr>
          <a:xfrm>
            <a:off x="9680448" y="3703320"/>
            <a:ext cx="1706880" cy="274320"/>
          </a:xfrm>
          <a:prstGeom prst="rect">
            <a:avLst/>
          </a:prstGeom>
          <a:noFill/>
          <a:ln/>
        </p:spPr>
        <p:txBody>
          <a:bodyPr wrap="square" lIns="0" tIns="0" rIns="0" bIns="0" rtlCol="0" anchor="t"/>
          <a:lstStyle/>
          <a:p>
            <a:pPr marL="0" indent="0" algn="ctr">
              <a:lnSpc>
                <a:spcPct val="112000"/>
              </a:lnSpc>
              <a:buNone/>
            </a:pPr>
            <a:r>
              <a:rPr lang="en-US" sz="1200" b="1" dirty="0">
                <a:solidFill>
                  <a:srgbClr val="212121"/>
                </a:solidFill>
                <a:latin typeface="Calibri" pitchFamily="34" charset="0"/>
                <a:ea typeface="Calibri" pitchFamily="34" charset="-122"/>
                <a:cs typeface="Calibri" pitchFamily="34" charset="-120"/>
              </a:rPr>
              <a:t>Strategy &amp; growth</a:t>
            </a:r>
            <a:endParaRPr lang="en-US" dirty="0"/>
          </a:p>
        </p:txBody>
      </p:sp>
      <p:sp>
        <p:nvSpPr>
          <p:cNvPr id="332" name="Step Desc 5"/>
          <p:cNvSpPr/>
          <p:nvPr/>
        </p:nvSpPr>
        <p:spPr>
          <a:xfrm>
            <a:off x="9680448" y="4000500"/>
            <a:ext cx="1706880" cy="1097280"/>
          </a:xfrm>
          <a:prstGeom prst="rect">
            <a:avLst/>
          </a:prstGeom>
          <a:noFill/>
          <a:ln/>
        </p:spPr>
        <p:txBody>
          <a:bodyPr wrap="square" lIns="0" tIns="0" rIns="0" bIns="0" rtlCol="0" anchor="t"/>
          <a:lstStyle/>
          <a:p>
            <a:pPr marL="0" indent="0" algn="ctr">
              <a:lnSpc>
                <a:spcPct val="112000"/>
              </a:lnSpc>
              <a:buNone/>
            </a:pPr>
            <a:r>
              <a:rPr lang="en-US" sz="1050" dirty="0">
                <a:solidFill>
                  <a:srgbClr val="5F5F5F"/>
                </a:solidFill>
                <a:latin typeface="Calibri" pitchFamily="34" charset="0"/>
                <a:ea typeface="Calibri" pitchFamily="34" charset="-122"/>
                <a:cs typeface="Calibri" pitchFamily="34" charset="-120"/>
              </a:rPr>
              <a:t>Budgets, forecasts, and CFO-level guidance as the business scales.</a:t>
            </a:r>
            <a:endParaRPr lang="en-US"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One goal from day one: numbers the owner can run the business on, and a bank can lend on.</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WHAT WE DELIVER</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Cleanup, ongoing support, and strategic growth</a:t>
            </a:r>
            <a:endParaRPr lang="en-US" sz="3000" dirty="0"/>
          </a:p>
        </p:txBody>
      </p:sp>
      <p:sp>
        <p:nvSpPr>
          <p:cNvPr id="101" name="Serve Intro"/>
          <p:cNvSpPr/>
          <p:nvPr/>
        </p:nvSpPr>
        <p:spPr>
          <a:xfrm>
            <a:off x="548640" y="1481328"/>
            <a:ext cx="11064240" cy="320040"/>
          </a:xfrm>
          <a:prstGeom prst="rect">
            <a:avLst/>
          </a:prstGeom>
          <a:noFill/>
          <a:ln/>
        </p:spPr>
        <p:txBody>
          <a:bodyPr wrap="square" lIns="0" tIns="0" rIns="0" bIns="0" rtlCol="0" anchor="t"/>
          <a:lstStyle/>
          <a:p>
            <a:pPr marL="0" indent="0" algn="l">
              <a:lnSpc>
                <a:spcPct val="112000"/>
              </a:lnSpc>
              <a:buNone/>
            </a:pPr>
            <a:r>
              <a:rPr lang="en-US" sz="1200" dirty="0">
                <a:solidFill>
                  <a:srgbClr val="5F5F5F"/>
                </a:solidFill>
                <a:latin typeface="Calibri" pitchFamily="34" charset="0"/>
                <a:ea typeface="Calibri" pitchFamily="34" charset="-122"/>
                <a:cs typeface="Calibri" pitchFamily="34" charset="-120"/>
              </a:rPr>
              <a:t>Every engagement covers three jobs, in whatever mix the business needs:</a:t>
            </a:r>
            <a:endParaRPr lang="en-US" dirty="0"/>
          </a:p>
        </p:txBody>
      </p:sp>
      <p:sp>
        <p:nvSpPr>
          <p:cNvPr id="102" name="Serve Card 0"/>
          <p:cNvSpPr/>
          <p:nvPr/>
        </p:nvSpPr>
        <p:spPr>
          <a:xfrm>
            <a:off x="548640"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3" name="Serve Circle 0"/>
          <p:cNvSpPr/>
          <p:nvPr/>
        </p:nvSpPr>
        <p:spPr>
          <a:xfrm>
            <a:off x="804672" y="2359152"/>
            <a:ext cx="457200" cy="457200"/>
          </a:xfrm>
          <a:prstGeom prst="ellipse">
            <a:avLst/>
          </a:prstGeom>
          <a:solidFill>
            <a:srgbClr val="B08D57"/>
          </a:solidFill>
          <a:ln/>
        </p:spPr>
        <p:txBody>
          <a:bodyPr/>
          <a:lstStyle/>
          <a:p>
            <a:endParaRPr lang="en-US"/>
          </a:p>
        </p:txBody>
      </p:sp>
      <p:pic>
        <p:nvPicPr>
          <p:cNvPr id="104" name="Serve Icon 0"/>
          <p:cNvPicPr>
            <a:picLocks noChangeAspect="1"/>
          </p:cNvPicPr>
          <p:nvPr/>
        </p:nvPicPr>
        <p:blipFill>
          <a:blip r:embed="rId3"/>
          <a:stretch>
            <a:fillRect/>
          </a:stretch>
        </p:blipFill>
        <p:spPr>
          <a:xfrm>
            <a:off x="923544" y="2478024"/>
            <a:ext cx="219456" cy="219456"/>
          </a:xfrm>
          <a:prstGeom prst="rect">
            <a:avLst/>
          </a:prstGeom>
        </p:spPr>
      </p:pic>
      <p:sp>
        <p:nvSpPr>
          <p:cNvPr id="105" name="Serve Head 0"/>
          <p:cNvSpPr/>
          <p:nvPr/>
        </p:nvSpPr>
        <p:spPr>
          <a:xfrm>
            <a:off x="804672"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Cleanup &amp; catch-up</a:t>
            </a:r>
            <a:endParaRPr lang="en-US" sz="1250" dirty="0"/>
          </a:p>
        </p:txBody>
      </p:sp>
      <p:sp>
        <p:nvSpPr>
          <p:cNvPr id="106" name="Serve Desc 0"/>
          <p:cNvSpPr/>
          <p:nvPr/>
        </p:nvSpPr>
        <p:spPr>
          <a:xfrm>
            <a:off x="804672"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Historical catch-up and clean-up: reconciled balance sheets, support schedules, and books a credit team can spread.</a:t>
            </a:r>
            <a:endParaRPr lang="en-US" sz="1100" dirty="0"/>
          </a:p>
        </p:txBody>
      </p:sp>
      <p:sp>
        <p:nvSpPr>
          <p:cNvPr id="107" name="Serve Card 1"/>
          <p:cNvSpPr/>
          <p:nvPr/>
        </p:nvSpPr>
        <p:spPr>
          <a:xfrm>
            <a:off x="4489704"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08" name="Serve Circle 1"/>
          <p:cNvSpPr/>
          <p:nvPr/>
        </p:nvSpPr>
        <p:spPr>
          <a:xfrm>
            <a:off x="4745736" y="2359152"/>
            <a:ext cx="457200" cy="457200"/>
          </a:xfrm>
          <a:prstGeom prst="ellipse">
            <a:avLst/>
          </a:prstGeom>
          <a:solidFill>
            <a:srgbClr val="B08D57"/>
          </a:solidFill>
          <a:ln/>
        </p:spPr>
        <p:txBody>
          <a:bodyPr/>
          <a:lstStyle/>
          <a:p>
            <a:endParaRPr lang="en-US"/>
          </a:p>
        </p:txBody>
      </p:sp>
      <p:pic>
        <p:nvPicPr>
          <p:cNvPr id="109" name="Serve Icon 1"/>
          <p:cNvPicPr>
            <a:picLocks noChangeAspect="1"/>
          </p:cNvPicPr>
          <p:nvPr/>
        </p:nvPicPr>
        <p:blipFill>
          <a:blip r:embed="rId4"/>
          <a:stretch>
            <a:fillRect/>
          </a:stretch>
        </p:blipFill>
        <p:spPr>
          <a:xfrm>
            <a:off x="4864608" y="2478024"/>
            <a:ext cx="219456" cy="219456"/>
          </a:xfrm>
          <a:prstGeom prst="rect">
            <a:avLst/>
          </a:prstGeom>
        </p:spPr>
      </p:pic>
      <p:sp>
        <p:nvSpPr>
          <p:cNvPr id="110" name="Serve Head 1"/>
          <p:cNvSpPr/>
          <p:nvPr/>
        </p:nvSpPr>
        <p:spPr>
          <a:xfrm>
            <a:off x="4745736"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Ongoing support</a:t>
            </a:r>
            <a:endParaRPr lang="en-US" sz="1250" dirty="0"/>
          </a:p>
        </p:txBody>
      </p:sp>
      <p:sp>
        <p:nvSpPr>
          <p:cNvPr id="111" name="Serve Desc 1"/>
          <p:cNvSpPr/>
          <p:nvPr/>
        </p:nvSpPr>
        <p:spPr>
          <a:xfrm>
            <a:off x="4745736"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A documented monthly close, on-time reporting, and covenant &amp; compliance packages, on a dependable calendar.</a:t>
            </a:r>
            <a:endParaRPr lang="en-US" sz="1100" dirty="0"/>
          </a:p>
        </p:txBody>
      </p:sp>
      <p:sp>
        <p:nvSpPr>
          <p:cNvPr id="112" name="Serve Card 2"/>
          <p:cNvSpPr/>
          <p:nvPr/>
        </p:nvSpPr>
        <p:spPr>
          <a:xfrm>
            <a:off x="8430768" y="2103120"/>
            <a:ext cx="3575304" cy="297180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13" name="Serve Circle 2"/>
          <p:cNvSpPr/>
          <p:nvPr/>
        </p:nvSpPr>
        <p:spPr>
          <a:xfrm>
            <a:off x="8686800" y="2359152"/>
            <a:ext cx="457200" cy="457200"/>
          </a:xfrm>
          <a:prstGeom prst="ellipse">
            <a:avLst/>
          </a:prstGeom>
          <a:solidFill>
            <a:srgbClr val="B08D57"/>
          </a:solidFill>
          <a:ln/>
        </p:spPr>
        <p:txBody>
          <a:bodyPr/>
          <a:lstStyle/>
          <a:p>
            <a:endParaRPr lang="en-US"/>
          </a:p>
        </p:txBody>
      </p:sp>
      <p:pic>
        <p:nvPicPr>
          <p:cNvPr id="114" name="Serve Icon 2"/>
          <p:cNvPicPr>
            <a:picLocks noChangeAspect="1"/>
          </p:cNvPicPr>
          <p:nvPr/>
        </p:nvPicPr>
        <p:blipFill>
          <a:blip r:embed="rId5"/>
          <a:stretch>
            <a:fillRect/>
          </a:stretch>
        </p:blipFill>
        <p:spPr>
          <a:xfrm>
            <a:off x="8805672" y="2478024"/>
            <a:ext cx="219456" cy="219456"/>
          </a:xfrm>
          <a:prstGeom prst="rect">
            <a:avLst/>
          </a:prstGeom>
        </p:spPr>
      </p:pic>
      <p:sp>
        <p:nvSpPr>
          <p:cNvPr id="115" name="Serve Head 2"/>
          <p:cNvSpPr/>
          <p:nvPr/>
        </p:nvSpPr>
        <p:spPr>
          <a:xfrm>
            <a:off x="8686800" y="2999232"/>
            <a:ext cx="3063240" cy="594360"/>
          </a:xfrm>
          <a:prstGeom prst="rect">
            <a:avLst/>
          </a:prstGeom>
          <a:noFill/>
          <a:ln/>
        </p:spPr>
        <p:txBody>
          <a:bodyPr wrap="square" lIns="0" tIns="0" rIns="0" bIns="0" rtlCol="0" anchor="ctr"/>
          <a:lstStyle/>
          <a:p>
            <a:pPr marL="0" indent="0">
              <a:buNone/>
            </a:pPr>
            <a:r>
              <a:rPr lang="en-US" sz="1250" b="1" dirty="0">
                <a:solidFill>
                  <a:srgbClr val="212121"/>
                </a:solidFill>
                <a:latin typeface="Calibri" pitchFamily="34" charset="0"/>
                <a:ea typeface="Calibri" pitchFamily="34" charset="-122"/>
                <a:cs typeface="Calibri" pitchFamily="34" charset="-120"/>
              </a:rPr>
              <a:t>Growth &amp; strategy</a:t>
            </a:r>
            <a:endParaRPr lang="en-US" sz="1250" dirty="0"/>
          </a:p>
        </p:txBody>
      </p:sp>
      <p:sp>
        <p:nvSpPr>
          <p:cNvPr id="116" name="Serve Desc 2"/>
          <p:cNvSpPr/>
          <p:nvPr/>
        </p:nvSpPr>
        <p:spPr>
          <a:xfrm>
            <a:off x="8686800" y="3657600"/>
            <a:ext cx="3063240" cy="1188720"/>
          </a:xfrm>
          <a:prstGeom prst="rect">
            <a:avLst/>
          </a:prstGeom>
          <a:noFill/>
          <a:ln/>
        </p:spPr>
        <p:txBody>
          <a:bodyPr wrap="square" lIns="0" tIns="0" rIns="0" bIns="0" rtlCol="0" anchor="t"/>
          <a:lstStyle/>
          <a:p>
            <a:pPr marL="0" indent="0">
              <a:buNone/>
            </a:pPr>
            <a:r>
              <a:rPr lang="en-US" sz="1100" dirty="0">
                <a:solidFill>
                  <a:srgbClr val="5F5F5F"/>
                </a:solidFill>
                <a:latin typeface="Calibri" pitchFamily="34" charset="0"/>
                <a:ea typeface="Calibri" pitchFamily="34" charset="-122"/>
                <a:cs typeface="Calibri" pitchFamily="34" charset="-120"/>
              </a:rPr>
              <a:t>Budgets, forecasts, and CFO-level guidance on margins, financing, and what comes next.</a:t>
            </a:r>
            <a:endParaRPr lang="en-US" sz="1100" dirty="0"/>
          </a:p>
        </p:txBody>
      </p:sp>
      <p:sp>
        <p:nvSpPr>
          <p:cNvPr id="333" name="Svc Num 0"/>
          <p:cNvSpPr/>
          <p:nvPr/>
        </p:nvSpPr>
        <p:spPr>
          <a:xfrm>
            <a:off x="3405120"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01</a:t>
            </a:r>
            <a:endParaRPr lang="en-US" dirty="0"/>
          </a:p>
        </p:txBody>
      </p:sp>
      <p:sp>
        <p:nvSpPr>
          <p:cNvPr id="334" name="Svc Num 1"/>
          <p:cNvSpPr/>
          <p:nvPr/>
        </p:nvSpPr>
        <p:spPr>
          <a:xfrm>
            <a:off x="7346184"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02</a:t>
            </a:r>
            <a:endParaRPr lang="en-US" dirty="0"/>
          </a:p>
        </p:txBody>
      </p:sp>
      <p:sp>
        <p:nvSpPr>
          <p:cNvPr id="335" name="Svc Num 2"/>
          <p:cNvSpPr/>
          <p:nvPr/>
        </p:nvSpPr>
        <p:spPr>
          <a:xfrm>
            <a:off x="11287248" y="2286000"/>
            <a:ext cx="444504" cy="365760"/>
          </a:xfrm>
          <a:prstGeom prst="rect">
            <a:avLst/>
          </a:prstGeom>
          <a:noFill/>
          <a:ln/>
        </p:spPr>
        <p:txBody>
          <a:bodyPr wrap="square" lIns="0" tIns="0" rIns="0" bIns="0" rtlCol="0" anchor="t"/>
          <a:lstStyle/>
          <a:p>
            <a:pPr marL="0" indent="0" algn="r">
              <a:lnSpc>
                <a:spcPct val="112000"/>
              </a:lnSpc>
              <a:buNone/>
            </a:pPr>
            <a:r>
              <a:rPr lang="en-US" sz="1600" b="1" dirty="0">
                <a:solidFill>
                  <a:srgbClr val="B08D57"/>
                </a:solidFill>
                <a:latin typeface="Cambria" pitchFamily="18" charset="0"/>
                <a:ea typeface="Cambria" pitchFamily="18" charset="-122"/>
                <a:cs typeface="Times New Roman" pitchFamily="18" charset="0"/>
              </a:rPr>
              <a:t>03</a:t>
            </a:r>
            <a:endParaRPr lang="en-US" dirty="0"/>
          </a:p>
        </p:txBody>
      </p:sp>
      <p:sp>
        <p:nvSpPr>
          <p:cNvPr id="336" name="Liaison Band"/>
          <p:cNvSpPr/>
          <p:nvPr/>
        </p:nvSpPr>
        <p:spPr>
          <a:xfrm>
            <a:off x="548640" y="5212080"/>
            <a:ext cx="11064240" cy="822960"/>
          </a:xfrm>
          <a:prstGeom prst="roundRect">
            <a:avLst>
              <a:gd name="adj" fmla="val 4000"/>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337" name="Liaison Circle"/>
          <p:cNvSpPr/>
          <p:nvPr/>
        </p:nvSpPr>
        <p:spPr>
          <a:xfrm>
            <a:off x="822960" y="5394960"/>
            <a:ext cx="457200" cy="457200"/>
          </a:xfrm>
          <a:prstGeom prst="ellipse">
            <a:avLst/>
          </a:prstGeom>
          <a:solidFill>
            <a:srgbClr val="B08D57"/>
          </a:solidFill>
          <a:ln/>
        </p:spPr>
        <p:txBody>
          <a:bodyPr/>
          <a:lstStyle/>
          <a:p>
            <a:endParaRPr lang="en-US"/>
          </a:p>
        </p:txBody>
      </p:sp>
      <p:pic>
        <p:nvPicPr>
          <p:cNvPr id="338" name="Liaison Icon"/>
          <p:cNvPicPr>
            <a:picLocks noChangeAspect="1"/>
          </p:cNvPicPr>
          <p:nvPr/>
        </p:nvPicPr>
        <p:blipFill>
          <a:blip r:embed="rId6"/>
          <a:stretch>
            <a:fillRect/>
          </a:stretch>
        </p:blipFill>
        <p:spPr>
          <a:xfrm>
            <a:off x="941832" y="5513832"/>
            <a:ext cx="219456" cy="219456"/>
          </a:xfrm>
          <a:prstGeom prst="rect">
            <a:avLst/>
          </a:prstGeom>
        </p:spPr>
      </p:pic>
      <p:sp>
        <p:nvSpPr>
          <p:cNvPr id="339" name="Liaison Text"/>
          <p:cNvSpPr/>
          <p:nvPr/>
        </p:nvSpPr>
        <p:spPr>
          <a:xfrm>
            <a:off x="1508760" y="5212080"/>
            <a:ext cx="9967320" cy="822960"/>
          </a:xfrm>
          <a:prstGeom prst="rect">
            <a:avLst/>
          </a:prstGeom>
          <a:noFill/>
          <a:ln/>
        </p:spPr>
        <p:txBody>
          <a:bodyPr wrap="square" lIns="0" tIns="0" rIns="0" bIns="0" rtlCol="0" anchor="ctr"/>
          <a:lstStyle/>
          <a:p>
            <a:pPr marL="0" indent="0">
              <a:lnSpc>
                <a:spcPct val="112000"/>
              </a:lnSpc>
              <a:buNone/>
            </a:pPr>
            <a:r>
              <a:rPr lang="en-US" sz="1150" b="1" dirty="0">
                <a:solidFill>
                  <a:srgbClr val="212121"/>
                </a:solidFill>
                <a:latin typeface="Calibri" pitchFamily="34" charset="0"/>
                <a:ea typeface="Calibri" pitchFamily="34" charset="-122"/>
                <a:cs typeface="Calibri" pitchFamily="34" charset="-120"/>
              </a:rPr>
              <a:t>One liaison in both directions: </a:t>
            </a:r>
            <a:r>
              <a:rPr lang="en-US" sz="1150" dirty="0">
                <a:solidFill>
                  <a:srgbClr val="5F5F5F"/>
                </a:solidFill>
                <a:latin typeface="Calibri" pitchFamily="34" charset="0"/>
                <a:ea typeface="Calibri" pitchFamily="34" charset="-122"/>
                <a:cs typeface="Calibri" pitchFamily="34" charset="-120"/>
              </a:rPr>
              <a:t>we keep the bank current, support the client’s partners, usually the CPA firm, on statements and reporting, and keep the owner focused on the business.</a:t>
            </a:r>
            <a:endParaRPr lang="en-US"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75488"/>
            <a:ext cx="10972800" cy="292608"/>
          </a:xfrm>
          <a:prstGeom prst="rect">
            <a:avLst/>
          </a:prstGeom>
          <a:noFill/>
          <a:ln/>
        </p:spPr>
        <p:txBody>
          <a:bodyPr wrap="square" lIns="0" tIns="0" rIns="0" bIns="0" rtlCol="0" anchor="ctr"/>
          <a:lstStyle/>
          <a:p>
            <a:pPr marL="0" indent="0">
              <a:buNone/>
            </a:pPr>
            <a:r>
              <a:rPr lang="en-US" sz="1100" b="1" kern="0" spc="300" dirty="0">
                <a:solidFill>
                  <a:srgbClr val="8F7346"/>
                </a:solidFill>
                <a:latin typeface="Calibri" pitchFamily="34" charset="0"/>
                <a:ea typeface="Calibri" pitchFamily="34" charset="-122"/>
                <a:cs typeface="Calibri" pitchFamily="34" charset="-120"/>
              </a:rPr>
              <a:t>WORKING TOGETHER</a:t>
            </a:r>
            <a:endParaRPr lang="en-US" sz="1100" dirty="0"/>
          </a:p>
        </p:txBody>
      </p:sp>
      <p:sp>
        <p:nvSpPr>
          <p:cNvPr id="3" name="Text 1"/>
          <p:cNvSpPr/>
          <p:nvPr/>
        </p:nvSpPr>
        <p:spPr>
          <a:xfrm>
            <a:off x="548640" y="768096"/>
            <a:ext cx="11064240" cy="566928"/>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Referrals that work in both directions</a:t>
            </a:r>
            <a:endParaRPr lang="en-US" sz="3000" dirty="0"/>
          </a:p>
        </p:txBody>
      </p:sp>
      <p:sp>
        <p:nvSpPr>
          <p:cNvPr id="133" name="Ref Card 0"/>
          <p:cNvSpPr/>
          <p:nvPr/>
        </p:nvSpPr>
        <p:spPr>
          <a:xfrm>
            <a:off x="548640" y="1737360"/>
            <a:ext cx="5605272" cy="365760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34" name="Ref Circle 0"/>
          <p:cNvSpPr/>
          <p:nvPr/>
        </p:nvSpPr>
        <p:spPr>
          <a:xfrm>
            <a:off x="822960" y="1993392"/>
            <a:ext cx="502920" cy="502920"/>
          </a:xfrm>
          <a:prstGeom prst="ellipse">
            <a:avLst/>
          </a:prstGeom>
          <a:solidFill>
            <a:srgbClr val="B08D57"/>
          </a:solidFill>
          <a:ln/>
        </p:spPr>
        <p:txBody>
          <a:bodyPr/>
          <a:lstStyle/>
          <a:p>
            <a:endParaRPr lang="en-US"/>
          </a:p>
        </p:txBody>
      </p:sp>
      <p:pic>
        <p:nvPicPr>
          <p:cNvPr id="135" name="Ref Icon 0"/>
          <p:cNvPicPr>
            <a:picLocks noChangeAspect="1"/>
          </p:cNvPicPr>
          <p:nvPr/>
        </p:nvPicPr>
        <p:blipFill>
          <a:blip r:embed="rId3"/>
          <a:stretch>
            <a:fillRect/>
          </a:stretch>
        </p:blipFill>
        <p:spPr>
          <a:xfrm>
            <a:off x="953719" y="2124151"/>
            <a:ext cx="241402" cy="241402"/>
          </a:xfrm>
          <a:prstGeom prst="rect">
            <a:avLst/>
          </a:prstGeom>
        </p:spPr>
      </p:pic>
      <p:sp>
        <p:nvSpPr>
          <p:cNvPr id="136" name="Ref Head 0"/>
          <p:cNvSpPr/>
          <p:nvPr/>
        </p:nvSpPr>
        <p:spPr>
          <a:xfrm>
            <a:off x="1508760" y="2088768"/>
            <a:ext cx="448056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Send Onyx in when you see</a:t>
            </a:r>
            <a:endParaRPr lang="en-US" sz="1600" dirty="0"/>
          </a:p>
        </p:txBody>
      </p:sp>
      <p:sp>
        <p:nvSpPr>
          <p:cNvPr id="137" name="Ref Bullets 0"/>
          <p:cNvSpPr/>
          <p:nvPr/>
        </p:nvSpPr>
        <p:spPr>
          <a:xfrm>
            <a:off x="822960" y="2743200"/>
            <a:ext cx="5056632" cy="2331720"/>
          </a:xfrm>
          <a:prstGeom prst="rect">
            <a:avLst/>
          </a:prstGeom>
          <a:noFill/>
          <a:ln/>
        </p:spPr>
        <p:txBody>
          <a:bodyPr wrap="square" lIns="0" tIns="0" rIns="0" bIns="0" rtlCol="0" anchor="t"/>
          <a:lstStyle/>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 loan request sitting on messy books: we make the file underwritable instead of letting it walk</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An existing borrower with reporting gaps or messy books heading into a renewal</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A growing client that needs additional funding or operational build-out, and books that keep pace</a:t>
            </a:r>
            <a:endParaRPr lang="en-US" sz="1200" dirty="0"/>
          </a:p>
        </p:txBody>
      </p:sp>
      <p:sp>
        <p:nvSpPr>
          <p:cNvPr id="138" name="Ref Card 1"/>
          <p:cNvSpPr/>
          <p:nvPr/>
        </p:nvSpPr>
        <p:spPr>
          <a:xfrm>
            <a:off x="6391656" y="1737360"/>
            <a:ext cx="5605272" cy="3657600"/>
          </a:xfrm>
          <a:prstGeom prst="roundRect">
            <a:avLst>
              <a:gd name="adj" fmla="val 2745"/>
            </a:avLst>
          </a:prstGeom>
          <a:solidFill>
            <a:srgbClr val="F5F5F4"/>
          </a:solidFill>
          <a:ln/>
          <a:effectLst>
            <a:outerShdw blurRad="88900" dist="25400" dir="5400000" algn="bl" rotWithShape="0">
              <a:srgbClr val="000000">
                <a:alpha val="13000"/>
              </a:srgbClr>
            </a:outerShdw>
          </a:effectLst>
        </p:spPr>
        <p:txBody>
          <a:bodyPr/>
          <a:lstStyle/>
          <a:p>
            <a:endParaRPr lang="en-US"/>
          </a:p>
        </p:txBody>
      </p:sp>
      <p:sp>
        <p:nvSpPr>
          <p:cNvPr id="139" name="Ref Circle 1"/>
          <p:cNvSpPr/>
          <p:nvPr/>
        </p:nvSpPr>
        <p:spPr>
          <a:xfrm>
            <a:off x="6665976" y="1993392"/>
            <a:ext cx="502920" cy="502920"/>
          </a:xfrm>
          <a:prstGeom prst="ellipse">
            <a:avLst/>
          </a:prstGeom>
          <a:solidFill>
            <a:srgbClr val="B08D57"/>
          </a:solidFill>
          <a:ln/>
        </p:spPr>
        <p:txBody>
          <a:bodyPr/>
          <a:lstStyle/>
          <a:p>
            <a:endParaRPr lang="en-US"/>
          </a:p>
        </p:txBody>
      </p:sp>
      <p:pic>
        <p:nvPicPr>
          <p:cNvPr id="140" name="Ref Icon 1"/>
          <p:cNvPicPr>
            <a:picLocks noChangeAspect="1"/>
          </p:cNvPicPr>
          <p:nvPr/>
        </p:nvPicPr>
        <p:blipFill>
          <a:blip r:embed="rId4"/>
          <a:stretch>
            <a:fillRect/>
          </a:stretch>
        </p:blipFill>
        <p:spPr>
          <a:xfrm>
            <a:off x="6796735" y="2124151"/>
            <a:ext cx="241402" cy="241402"/>
          </a:xfrm>
          <a:prstGeom prst="rect">
            <a:avLst/>
          </a:prstGeom>
        </p:spPr>
      </p:pic>
      <p:sp>
        <p:nvSpPr>
          <p:cNvPr id="141" name="Ref Head 1"/>
          <p:cNvSpPr/>
          <p:nvPr/>
        </p:nvSpPr>
        <p:spPr>
          <a:xfrm>
            <a:off x="7351776" y="2088768"/>
            <a:ext cx="4480560" cy="292608"/>
          </a:xfrm>
          <a:prstGeom prst="rect">
            <a:avLst/>
          </a:prstGeom>
          <a:noFill/>
          <a:ln/>
        </p:spPr>
        <p:txBody>
          <a:bodyPr wrap="square" lIns="0" tIns="0" rIns="0" bIns="0" rtlCol="0" anchor="ctr"/>
          <a:lstStyle/>
          <a:p>
            <a:pPr marL="0" indent="0">
              <a:buNone/>
            </a:pPr>
            <a:r>
              <a:rPr lang="en-US" sz="1600" b="1" dirty="0">
                <a:solidFill>
                  <a:srgbClr val="212121"/>
                </a:solidFill>
                <a:latin typeface="Calibri" pitchFamily="34" charset="0"/>
                <a:ea typeface="Calibri" pitchFamily="34" charset="-122"/>
                <a:cs typeface="Calibri" pitchFamily="34" charset="-120"/>
              </a:rPr>
              <a:t>We send TrustBank in when we see</a:t>
            </a:r>
            <a:endParaRPr lang="en-US" sz="1600" dirty="0"/>
          </a:p>
        </p:txBody>
      </p:sp>
      <p:sp>
        <p:nvSpPr>
          <p:cNvPr id="142" name="Ref Bullets 1"/>
          <p:cNvSpPr/>
          <p:nvPr/>
        </p:nvSpPr>
        <p:spPr>
          <a:xfrm>
            <a:off x="6665976" y="2743200"/>
            <a:ext cx="5056632" cy="2331720"/>
          </a:xfrm>
          <a:prstGeom prst="rect">
            <a:avLst/>
          </a:prstGeom>
          <a:noFill/>
          <a:ln/>
        </p:spPr>
        <p:txBody>
          <a:bodyPr wrap="square" lIns="0" tIns="0" rIns="0" bIns="0" rtlCol="0" anchor="t"/>
          <a:lstStyle/>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Clients who need lending, deposit, or treasury solutions: we prep the numbers and the introduction</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Owners approaching a sale, retirement, or succession: early looks for your wealth management team</a:t>
            </a:r>
            <a:endParaRPr lang="en-US" sz="1200" dirty="0"/>
          </a:p>
          <a:p>
            <a:pPr marL="177800" indent="-177800">
              <a:lnSpc>
                <a:spcPct val="105000"/>
              </a:lnSpc>
              <a:spcAft>
                <a:spcPts val="1400"/>
              </a:spcAft>
              <a:buSzPct val="100000"/>
              <a:buChar char="•"/>
            </a:pPr>
            <a:r>
              <a:rPr lang="en-US" sz="1200" dirty="0">
                <a:solidFill>
                  <a:srgbClr val="5F5F5F"/>
                </a:solidFill>
                <a:latin typeface="Calibri" pitchFamily="34" charset="0"/>
                <a:ea typeface="Calibri" pitchFamily="34" charset="-122"/>
                <a:cs typeface="Calibri" pitchFamily="34" charset="-120"/>
              </a:rPr>
              <a:t>New businesses choosing their first banking partner in the Valley</a:t>
            </a:r>
            <a:endParaRPr lang="en-US" sz="1200" dirty="0"/>
          </a:p>
        </p:txBody>
      </p:sp>
      <p:sp>
        <p:nvSpPr>
          <p:cNvPr id="22" name="Text 17"/>
          <p:cNvSpPr/>
          <p:nvPr/>
        </p:nvSpPr>
        <p:spPr>
          <a:xfrm>
            <a:off x="548640" y="5989320"/>
            <a:ext cx="11064240" cy="365760"/>
          </a:xfrm>
          <a:prstGeom prst="rect">
            <a:avLst/>
          </a:prstGeom>
          <a:noFill/>
          <a:ln/>
        </p:spPr>
        <p:txBody>
          <a:bodyPr wrap="square" lIns="0" tIns="0" rIns="0" bIns="0" rtlCol="0" anchor="ctr"/>
          <a:lstStyle/>
          <a:p>
            <a:pPr marL="0" indent="0">
              <a:buNone/>
            </a:pPr>
            <a:r>
              <a:rPr lang="en-US" sz="1200" i="1" dirty="0">
                <a:solidFill>
                  <a:srgbClr val="8F7346"/>
                </a:solidFill>
                <a:latin typeface="Calibri" pitchFamily="34" charset="0"/>
                <a:ea typeface="Calibri" pitchFamily="34" charset="-122"/>
                <a:cs typeface="Calibri" pitchFamily="34" charset="-120"/>
              </a:rPr>
              <a:t>Same client, both teams in the loop: collaborative support, not handoffs.</a:t>
            </a:r>
            <a:endParaRPr lang="en-US" sz="1200" dirty="0"/>
          </a:p>
        </p:txBody>
      </p:sp>
      <p:sp>
        <p:nvSpPr>
          <p:cNvPr id="23" name="Text 18"/>
          <p:cNvSpPr/>
          <p:nvPr/>
        </p:nvSpPr>
        <p:spPr>
          <a:xfrm>
            <a:off x="11567160" y="6446520"/>
            <a:ext cx="457200" cy="274320"/>
          </a:xfrm>
          <a:prstGeom prst="rect">
            <a:avLst/>
          </a:prstGeom>
          <a:noFill/>
          <a:ln/>
        </p:spPr>
        <p:txBody>
          <a:bodyPr wrap="square" lIns="0" tIns="0" rIns="0" bIns="0" rtlCol="0" anchor="ctr"/>
          <a:lstStyle/>
          <a:p>
            <a:pPr marL="0" indent="0" algn="r">
              <a:buNone/>
            </a:pPr>
            <a:r>
              <a:rPr lang="en-US" sz="1000" dirty="0">
                <a:solidFill>
                  <a:srgbClr val="A0A0A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66928" y="457200"/>
            <a:ext cx="10972800" cy="292608"/>
          </a:xfrm>
          <a:prstGeom prst="rect">
            <a:avLst/>
          </a:prstGeom>
          <a:noFill/>
          <a:ln/>
        </p:spPr>
        <p:txBody>
          <a:bodyPr wrap="square" lIns="0" tIns="0" rIns="0" bIns="0" rtlCol="0" anchor="ctr"/>
          <a:lstStyle/>
          <a:p>
            <a:pPr marL="0" indent="0">
              <a:buNone/>
            </a:pPr>
            <a:r>
              <a:rPr lang="en-US" sz="1100" b="1" kern="0" spc="300" dirty="0">
                <a:solidFill>
                  <a:srgbClr val="B08D57"/>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48640" y="749808"/>
            <a:ext cx="1106424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partnership that wins three ways</a:t>
            </a:r>
            <a:endParaRPr lang="en-US" sz="3000" dirty="0"/>
          </a:p>
        </p:txBody>
      </p:sp>
      <p:sp>
        <p:nvSpPr>
          <p:cNvPr id="4" name="Shape 2"/>
          <p:cNvSpPr/>
          <p:nvPr/>
        </p:nvSpPr>
        <p:spPr>
          <a:xfrm>
            <a:off x="548640" y="1481328"/>
            <a:ext cx="457200" cy="457200"/>
          </a:xfrm>
          <a:prstGeom prst="ellipse">
            <a:avLst/>
          </a:prstGeom>
          <a:solidFill>
            <a:srgbClr val="B08D57"/>
          </a:solidFill>
          <a:ln/>
        </p:spPr>
        <p:txBody>
          <a:bodyPr/>
          <a:lstStyle/>
          <a:p>
            <a:endParaRPr lang="en-US"/>
          </a:p>
        </p:txBody>
      </p:sp>
      <p:pic>
        <p:nvPicPr>
          <p:cNvPr id="5" name="Image 0" descr="/sessions/blissful-awesome-feynman/build/icons/usertie.png"/>
          <p:cNvPicPr>
            <a:picLocks noChangeAspect="1"/>
          </p:cNvPicPr>
          <p:nvPr/>
        </p:nvPicPr>
        <p:blipFill>
          <a:blip r:embed="rId3"/>
          <a:stretch>
            <a:fillRect/>
          </a:stretch>
        </p:blipFill>
        <p:spPr>
          <a:xfrm>
            <a:off x="667512" y="1600200"/>
            <a:ext cx="219456" cy="219456"/>
          </a:xfrm>
          <a:prstGeom prst="rect">
            <a:avLst/>
          </a:prstGeom>
        </p:spPr>
      </p:pic>
      <p:sp>
        <p:nvSpPr>
          <p:cNvPr id="6" name="Text 3"/>
          <p:cNvSpPr/>
          <p:nvPr/>
        </p:nvSpPr>
        <p:spPr>
          <a:xfrm>
            <a:off x="1237164" y="1540187"/>
            <a:ext cx="1649615" cy="274320"/>
          </a:xfrm>
          <a:prstGeom prst="rect">
            <a:avLst/>
          </a:prstGeom>
          <a:noFill/>
          <a:ln/>
        </p:spPr>
        <p:txBody>
          <a:bodyPr wrap="square" lIns="0" tIns="0" rIns="0" bIns="0" rtlCol="0" anchor="ctr"/>
          <a:lstStyle/>
          <a:p>
            <a:pPr marL="0" indent="0">
              <a:buNone/>
            </a:pPr>
            <a:r>
              <a:rPr lang="en-US" sz="1450" b="1" dirty="0">
                <a:solidFill>
                  <a:srgbClr val="B08D57"/>
                </a:solidFill>
                <a:latin typeface="Calibri" pitchFamily="34" charset="0"/>
                <a:ea typeface="Calibri" pitchFamily="34" charset="-122"/>
                <a:cs typeface="Calibri" pitchFamily="34" charset="-120"/>
              </a:rPr>
              <a:t>Your clients</a:t>
            </a:r>
            <a:endParaRPr lang="en-US" sz="1450" dirty="0"/>
          </a:p>
        </p:txBody>
      </p:sp>
      <p:sp>
        <p:nvSpPr>
          <p:cNvPr id="7" name="Text 4"/>
          <p:cNvSpPr/>
          <p:nvPr/>
        </p:nvSpPr>
        <p:spPr>
          <a:xfrm>
            <a:off x="548640" y="2359152"/>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A CFO-level finance function on a tailored monthly package, at a fraction of a full-time hire.</a:t>
            </a:r>
            <a:endParaRPr lang="en-US" sz="1150" dirty="0"/>
          </a:p>
        </p:txBody>
      </p:sp>
      <p:sp>
        <p:nvSpPr>
          <p:cNvPr id="37" name="TrustBank Chip"/>
          <p:cNvSpPr/>
          <p:nvPr/>
        </p:nvSpPr>
        <p:spPr>
          <a:xfrm>
            <a:off x="4489704" y="1442816"/>
            <a:ext cx="1828800" cy="534224"/>
          </a:xfrm>
          <a:prstGeom prst="roundRect">
            <a:avLst>
              <a:gd name="adj" fmla="val 16000"/>
            </a:avLst>
          </a:prstGeom>
          <a:solidFill>
            <a:srgbClr val="FFFFFF"/>
          </a:solidFill>
          <a:effectLst>
            <a:outerShdw blurRad="88900" dist="25400" dir="5400000" algn="bl" rotWithShape="0">
              <a:srgbClr val="000000">
                <a:alpha val="30000"/>
              </a:srgbClr>
            </a:outerShdw>
          </a:effectLst>
        </p:spPr>
        <p:txBody>
          <a:bodyPr/>
          <a:lstStyle/>
          <a:p>
            <a:endParaRPr lang="en-US"/>
          </a:p>
        </p:txBody>
      </p:sp>
      <p:pic>
        <p:nvPicPr>
          <p:cNvPr id="38" name="TrustBank Logo"/>
          <p:cNvPicPr>
            <a:picLocks noChangeAspect="1"/>
          </p:cNvPicPr>
          <p:nvPr/>
        </p:nvPicPr>
        <p:blipFill>
          <a:blip r:embed="rId4"/>
          <a:stretch>
            <a:fillRect/>
          </a:stretch>
        </p:blipFill>
        <p:spPr>
          <a:xfrm>
            <a:off x="4604004" y="1537305"/>
            <a:ext cx="1600200" cy="345247"/>
          </a:xfrm>
          <a:prstGeom prst="rect">
            <a:avLst/>
          </a:prstGeom>
        </p:spPr>
      </p:pic>
      <p:sp>
        <p:nvSpPr>
          <p:cNvPr id="11" name="Text 7"/>
          <p:cNvSpPr/>
          <p:nvPr/>
        </p:nvSpPr>
        <p:spPr>
          <a:xfrm>
            <a:off x="4489704" y="2359152"/>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Timely reporting, clean covenants, faster underwriting, and early introductions for your wealth management team.</a:t>
            </a:r>
            <a:endParaRPr lang="en-US" sz="1150" dirty="0"/>
          </a:p>
        </p:txBody>
      </p:sp>
      <p:sp>
        <p:nvSpPr>
          <p:cNvPr id="33" name="Onyx Wordmark"/>
          <p:cNvSpPr/>
          <p:nvPr/>
        </p:nvSpPr>
        <p:spPr>
          <a:xfrm>
            <a:off x="8430768" y="1495044"/>
            <a:ext cx="3212592" cy="27432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Cambria" pitchFamily="34" charset="0"/>
                <a:ea typeface="Cambria" pitchFamily="34" charset="-122"/>
                <a:cs typeface="Cambria" pitchFamily="34" charset="-120"/>
              </a:rPr>
              <a:t>ONYX</a:t>
            </a:r>
            <a:endParaRPr lang="en-US" sz="1800" dirty="0"/>
          </a:p>
        </p:txBody>
      </p:sp>
      <p:sp>
        <p:nvSpPr>
          <p:cNvPr id="34" name="Onyx Wordmark Sub"/>
          <p:cNvSpPr/>
          <p:nvPr/>
        </p:nvSpPr>
        <p:spPr>
          <a:xfrm>
            <a:off x="8430768" y="1769364"/>
            <a:ext cx="3212592" cy="155448"/>
          </a:xfrm>
          <a:prstGeom prst="rect">
            <a:avLst/>
          </a:prstGeom>
          <a:noFill/>
          <a:ln/>
        </p:spPr>
        <p:txBody>
          <a:bodyPr wrap="square" lIns="0" tIns="0" rIns="0" bIns="0" rtlCol="0" anchor="ctr"/>
          <a:lstStyle/>
          <a:p>
            <a:pPr marL="0" indent="0" algn="ctr">
              <a:buNone/>
            </a:pPr>
            <a:r>
              <a:rPr lang="en-US" sz="700" kern="0" spc="500" dirty="0">
                <a:solidFill>
                  <a:srgbClr val="B08D57"/>
                </a:solidFill>
                <a:latin typeface="Calibri" pitchFamily="34" charset="0"/>
                <a:ea typeface="Calibri" pitchFamily="34" charset="-122"/>
                <a:cs typeface="Calibri" pitchFamily="34" charset="-120"/>
              </a:rPr>
              <a:t>ACCOUNTING GROUP</a:t>
            </a:r>
            <a:endParaRPr lang="en-US" sz="700" dirty="0"/>
          </a:p>
        </p:txBody>
      </p:sp>
      <p:sp>
        <p:nvSpPr>
          <p:cNvPr id="15" name="Text 10"/>
          <p:cNvSpPr/>
          <p:nvPr/>
        </p:nvSpPr>
        <p:spPr>
          <a:xfrm>
            <a:off x="8430768" y="2359152"/>
            <a:ext cx="3566160" cy="822960"/>
          </a:xfrm>
          <a:prstGeom prst="rect">
            <a:avLst/>
          </a:prstGeom>
          <a:noFill/>
          <a:ln/>
        </p:spPr>
        <p:txBody>
          <a:bodyPr wrap="square" lIns="0" tIns="0" rIns="0" bIns="0" rtlCol="0" anchor="t"/>
          <a:lstStyle/>
          <a:p>
            <a:pPr marL="0" indent="0">
              <a:lnSpc>
                <a:spcPct val="108000"/>
              </a:lnSpc>
              <a:buNone/>
            </a:pPr>
            <a:r>
              <a:rPr lang="en-US" sz="1150" dirty="0">
                <a:solidFill>
                  <a:srgbClr val="DADADA"/>
                </a:solidFill>
                <a:latin typeface="Calibri" pitchFamily="34" charset="0"/>
                <a:ea typeface="Calibri" pitchFamily="34" charset="-122"/>
                <a:cs typeface="Calibri" pitchFamily="34" charset="-120"/>
              </a:rPr>
              <a:t>We grow when your referrals grow. Your portfolio’s health is our business model.</a:t>
            </a:r>
            <a:endParaRPr lang="en-US" sz="1150" dirty="0"/>
          </a:p>
        </p:txBody>
      </p:sp>
      <p:sp>
        <p:nvSpPr>
          <p:cNvPr id="16" name="Shape 11"/>
          <p:cNvSpPr/>
          <p:nvPr/>
        </p:nvSpPr>
        <p:spPr>
          <a:xfrm>
            <a:off x="548640" y="4037076"/>
            <a:ext cx="11448288" cy="914400"/>
          </a:xfrm>
          <a:prstGeom prst="roundRect">
            <a:avLst>
              <a:gd name="adj" fmla="val 7000"/>
            </a:avLst>
          </a:prstGeom>
          <a:solidFill>
            <a:srgbClr val="B08D57"/>
          </a:solidFill>
          <a:ln/>
          <a:effectLst>
            <a:outerShdw blurRad="88900" dist="25400" dir="5400000" algn="bl" rotWithShape="0">
              <a:srgbClr val="000000">
                <a:alpha val="13000"/>
              </a:srgbClr>
            </a:outerShdw>
          </a:effectLst>
        </p:spPr>
        <p:txBody>
          <a:bodyPr/>
          <a:lstStyle/>
          <a:p>
            <a:endParaRPr lang="en-US"/>
          </a:p>
        </p:txBody>
      </p:sp>
      <p:sp>
        <p:nvSpPr>
          <p:cNvPr id="17" name="Shape 12"/>
          <p:cNvSpPr/>
          <p:nvPr/>
        </p:nvSpPr>
        <p:spPr>
          <a:xfrm>
            <a:off x="822960" y="4265676"/>
            <a:ext cx="457200" cy="457200"/>
          </a:xfrm>
          <a:prstGeom prst="ellipse">
            <a:avLst/>
          </a:prstGeom>
          <a:solidFill>
            <a:srgbClr val="1A1A1A"/>
          </a:solidFill>
          <a:ln/>
        </p:spPr>
        <p:txBody>
          <a:bodyPr/>
          <a:lstStyle/>
          <a:p>
            <a:endParaRPr lang="en-US"/>
          </a:p>
        </p:txBody>
      </p:sp>
      <p:pic>
        <p:nvPicPr>
          <p:cNvPr id="18" name="Image 3" descr="/sessions/blissful-awesome-feynman/build/icons/gift.png"/>
          <p:cNvPicPr>
            <a:picLocks noChangeAspect="1"/>
          </p:cNvPicPr>
          <p:nvPr/>
        </p:nvPicPr>
        <p:blipFill>
          <a:blip r:embed="rId5"/>
          <a:stretch>
            <a:fillRect/>
          </a:stretch>
        </p:blipFill>
        <p:spPr>
          <a:xfrm>
            <a:off x="932688" y="4375404"/>
            <a:ext cx="237744" cy="237744"/>
          </a:xfrm>
          <a:prstGeom prst="rect">
            <a:avLst/>
          </a:prstGeom>
        </p:spPr>
      </p:pic>
      <p:sp>
        <p:nvSpPr>
          <p:cNvPr id="19" name="Text 13"/>
          <p:cNvSpPr/>
          <p:nvPr/>
        </p:nvSpPr>
        <p:spPr>
          <a:xfrm>
            <a:off x="1463040" y="4037076"/>
            <a:ext cx="10332720" cy="914400"/>
          </a:xfrm>
          <a:prstGeom prst="rect">
            <a:avLst/>
          </a:prstGeom>
          <a:noFill/>
          <a:ln/>
        </p:spPr>
        <p:txBody>
          <a:bodyPr wrap="square" lIns="0" tIns="0" rIns="0" bIns="0" rtlCol="0" anchor="ctr"/>
          <a:lstStyle/>
          <a:p>
            <a:pPr marL="0" indent="0">
              <a:buNone/>
            </a:pPr>
            <a:r>
              <a:rPr lang="en-US" sz="1350" b="1" dirty="0">
                <a:solidFill>
                  <a:srgbClr val="1A1A1A"/>
                </a:solidFill>
                <a:latin typeface="Calibri" pitchFamily="34" charset="0"/>
                <a:ea typeface="Calibri" pitchFamily="34" charset="-122"/>
                <a:cs typeface="Calibri" pitchFamily="34" charset="-120"/>
              </a:rPr>
              <a:t>Standing offer:  </a:t>
            </a:r>
            <a:r>
              <a:rPr lang="en-US" sz="1350" dirty="0">
                <a:solidFill>
                  <a:srgbClr val="1A1A1A"/>
                </a:solidFill>
                <a:latin typeface="Calibri" pitchFamily="34" charset="0"/>
                <a:ea typeface="Calibri" pitchFamily="34" charset="-122"/>
                <a:cs typeface="Calibri" pitchFamily="34" charset="-120"/>
              </a:rPr>
              <a:t>quarterly accounting &amp; treasury reviews with you and your client, plus a complimentary accounting consultation for any business you refer.</a:t>
            </a:r>
            <a:endParaRPr lang="en-US" sz="1350" dirty="0"/>
          </a:p>
        </p:txBody>
      </p:sp>
      <p:sp>
        <p:nvSpPr>
          <p:cNvPr id="30" name="Text 24"/>
          <p:cNvSpPr/>
          <p:nvPr/>
        </p:nvSpPr>
        <p:spPr>
          <a:xfrm>
            <a:off x="0" y="5806440"/>
            <a:ext cx="12191695"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Onyx Accounting Group</a:t>
            </a:r>
            <a:endParaRPr lang="en-US" sz="1400" dirty="0"/>
          </a:p>
        </p:txBody>
      </p:sp>
      <p:sp>
        <p:nvSpPr>
          <p:cNvPr id="31" name="Text 25"/>
          <p:cNvSpPr/>
          <p:nvPr/>
        </p:nvSpPr>
        <p:spPr>
          <a:xfrm>
            <a:off x="0" y="6108192"/>
            <a:ext cx="12191695" cy="274320"/>
          </a:xfrm>
          <a:prstGeom prst="rect">
            <a:avLst/>
          </a:prstGeom>
          <a:noFill/>
          <a:ln/>
        </p:spPr>
        <p:txBody>
          <a:bodyPr wrap="square" lIns="0" tIns="0" rIns="0" bIns="0" rtlCol="0" anchor="ctr"/>
          <a:lstStyle/>
          <a:p>
            <a:pPr marL="0" indent="0" algn="ctr">
              <a:buNone/>
            </a:pPr>
            <a:r>
              <a:rPr lang="en-US" sz="1100" dirty="0">
                <a:solidFill>
                  <a:srgbClr val="C9C9C9"/>
                </a:solidFill>
                <a:latin typeface="Calibri" pitchFamily="34" charset="0"/>
                <a:ea typeface="Calibri" pitchFamily="34" charset="-122"/>
                <a:cs typeface="Calibri" pitchFamily="34" charset="-120"/>
              </a:rPr>
              <a:t>Steven Nikolov · Steven@onyxcfo.com · (480) 442-3119   ·   Josephine Mack · Client Relations   ·   onyxcfo.com · 14614 N Kierland Blvd, Suite N220, Scottsdale, AZ</a:t>
            </a:r>
            <a:endParaRPr lang="en-US" sz="1100" dirty="0"/>
          </a:p>
        </p:txBody>
      </p:sp>
      <p:sp>
        <p:nvSpPr>
          <p:cNvPr id="32" name="Text 26"/>
          <p:cNvSpPr/>
          <p:nvPr/>
        </p:nvSpPr>
        <p:spPr>
          <a:xfrm>
            <a:off x="0" y="6419088"/>
            <a:ext cx="12191695" cy="274320"/>
          </a:xfrm>
          <a:prstGeom prst="rect">
            <a:avLst/>
          </a:prstGeom>
          <a:noFill/>
          <a:ln/>
        </p:spPr>
        <p:txBody>
          <a:bodyPr wrap="square" lIns="0" tIns="0" rIns="0" bIns="0" rtlCol="0" anchor="ctr"/>
          <a:lstStyle/>
          <a:p>
            <a:pPr marL="0" indent="0" algn="ctr">
              <a:buNone/>
            </a:pPr>
            <a:r>
              <a:rPr lang="en-US" sz="1150" i="1" dirty="0">
                <a:solidFill>
                  <a:srgbClr val="B08D57"/>
                </a:solidFill>
                <a:latin typeface="Calibri" pitchFamily="34" charset="0"/>
                <a:ea typeface="Calibri" pitchFamily="34" charset="-122"/>
                <a:cs typeface="Calibri" pitchFamily="34" charset="-120"/>
              </a:rPr>
              <a:t>As TrustBank grows in the Valley, we’d love to grow with you.</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1570</Words>
  <Application>Microsoft Office PowerPoint</Application>
  <PresentationFormat>Widescreen</PresentationFormat>
  <Paragraphs>170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Onyx Accounting Group · TrustBank Partnership</dc:title>
  <dc:subject>Prepared for TrustBank</dc:subject>
  <dc:creator>PptxGenJS</dc:creator>
  <cp:lastModifiedBy>Josephine Mack</cp:lastModifiedBy>
  <cp:revision>4</cp:revision>
  <dcterms:created xsi:type="dcterms:W3CDTF">2026-07-10T23:20:34Z</dcterms:created>
  <dcterms:modified xsi:type="dcterms:W3CDTF">2026-08-26T19:14:11Z</dcterms:modified>
</cp:coreProperties>
</file>